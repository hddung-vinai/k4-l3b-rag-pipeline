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4748B"/>
                </a:solidFill>
                <a:latin typeface="Calibri"/>
              </a:defRPr>
            </a:pPr>
            <a:r>
              <a:rPr sz="1200" b="0" i="0" u="none" strike="noStrike">
                <a:solidFill>
                  <a:srgbClr val="64748B"/>
                </a:solidFill>
                <a:latin typeface="Calibri"/>
              </a:rPr>
              <a:t>Trên tổng số 156 Điều</a:t>
            </a:r>
          </a:p>
        </c:rich>
      </c:tx>
      <c:layout/>
      <c:overlay val="0"/>
    </c:title>
    <c:autoTitleDeleted val="0"/>
    <c:plotArea>
      <c:layout/>
      <c:barChart>
        <c:barDir val="col"/>
        <c:grouping val="clustered"/>
        <c:varyColors val="0"/>
        <c:ser>
          <c:idx val="0"/>
          <c:order val="0"/>
          <c:tx>
            <c:strRef>
              <c:f>Sheet1!$B$1</c:f>
              <c:strCache>
                <c:ptCount val="1"/>
                <c:pt idx="0">
                  <c:v>Số Điều nằm trọn trong một chunk</c:v>
                </c:pt>
              </c:strCache>
            </c:strRef>
          </c:tx>
          <c:spPr>
            <a:solidFill>
              <a:srgbClr val="1D4ED8"/>
            </a:solidFill>
            <a:effectLst/>
          </c:spPr>
          <c:invertIfNegative val="0"/>
          <c:dLbls>
            <c:numFmt formatCode="0&quot;/156&quot;" sourceLinked="0"/>
            <c:txPr>
              <a:bodyPr/>
              <a:lstStyle/>
              <a:p>
                <a:pPr>
                  <a:defRPr b="0" i="0" strike="noStrike" sz="1300" u="none">
                    <a:solidFill>
                      <a:srgbClr val="1E293B"/>
                    </a:solidFill>
                    <a:latin typeface="Calibri"/>
                  </a:defRPr>
                </a:pPr>
              </a:p>
            </c:txPr>
            <c:showLegendKey val="0"/>
            <c:showVal val="1"/>
            <c:showCatName val="0"/>
            <c:showSerName val="0"/>
            <c:showPercent val="0"/>
            <c:showBubbleSize val="0"/>
            <c:showLeaderLines val="0"/>
          </c:dLbls>
          <c:dPt>
            <c:idx val="0"/>
            <c:invertIfNegative val="0"/>
            <c:bubble3D val="0"/>
            <c:spPr>
              <a:solidFill>
                <a:srgbClr val="1D4ED8"/>
              </a:solidFill>
              <a:effectLst/>
            </c:spPr>
          </c:dPt>
          <c:dPt>
            <c:idx val="1"/>
            <c:invertIfNegative val="0"/>
            <c:bubble3D val="0"/>
            <c:spPr>
              <a:solidFill>
                <a:srgbClr val="F27A2A"/>
              </a:solidFill>
              <a:effectLst/>
            </c:spPr>
          </c:dPt>
          <c:cat>
            <c:multiLvlStrRef>
              <c:f>Sheet1!$A$2:$A$3</c:f>
              <c:multiLvlStrCache>
                <c:ptCount val="2"/>
                <c:lvl>
                  <c:pt idx="0">
                    <c:v>chunk 500</c:v>
                  </c:pt>
                  <c:pt idx="1">
                    <c:v>chunk 800</c:v>
                  </c:pt>
                </c:lvl>
              </c:multiLvlStrCache>
            </c:multiLvlStrRef>
          </c:cat>
          <c:val>
            <c:numRef>
              <c:f>Sheet1!$B$2:$B$3</c:f>
              <c:numCache>
                <c:formatCode>General</c:formatCode>
                <c:ptCount val="2"/>
                <c:pt idx="0">
                  <c:v>52</c:v>
                </c:pt>
                <c:pt idx="1">
                  <c:v>78</c:v>
                </c:pt>
              </c:numCache>
            </c:numRef>
          </c:val>
        </c:ser>
        <c:dLbls>
          <c:numFmt formatCode="0&quot;/156&quot;" sourceLinked="0"/>
          <c:txPr>
            <a:bodyPr/>
            <a:lstStyle/>
            <a:p>
              <a:pPr>
                <a:defRPr b="0" i="0" strike="noStrike" sz="1300" u="none">
                  <a:solidFill>
                    <a:srgbClr val="1E293B"/>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Calibri"/>
              </a:defRPr>
            </a:pPr>
            <a:endParaRPr lang="en-US"/>
          </a:p>
        </c:txPr>
        <c:crossAx val="2094734552"/>
        <c:crosses val="autoZero"/>
        <c:auto val="1"/>
        <c:lblAlgn val="ctr"/>
        <c:noMultiLvlLbl val="1"/>
      </c:catAx>
      <c:valAx>
        <c:axId val="2094734552"/>
        <c:scaling>
          <c:orientation val="minMax"/>
          <c:max val="100"/>
        </c:scaling>
        <c:delete val="0"/>
        <c:axPos val="l"/>
        <c:majorGridlines>
          <c:spPr>
            <a:ln w="12700" cap="flat">
              <a:solidFill>
                <a:srgbClr val="DCE6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4748B"/>
                </a:solidFill>
                <a:latin typeface="Calibri"/>
              </a:defRPr>
            </a:pPr>
            <a:r>
              <a:rPr sz="1200" b="0" i="0" u="none" strike="noStrike">
                <a:solidFill>
                  <a:srgbClr val="64748B"/>
                </a:solidFill>
                <a:latin typeface="Calibri"/>
              </a:rPr>
              <a:t>Best dense score theo từng truy vấn</a:t>
            </a:r>
          </a:p>
        </c:rich>
      </c:tx>
      <c:layout/>
      <c:overlay val="0"/>
    </c:title>
    <c:autoTitleDeleted val="0"/>
    <c:plotArea>
      <c:layout/>
      <c:barChart>
        <c:barDir val="col"/>
        <c:grouping val="clustered"/>
        <c:varyColors val="0"/>
        <c:ser>
          <c:idx val="0"/>
          <c:order val="0"/>
          <c:tx>
            <c:strRef>
              <c:f>Sheet1!$B$1</c:f>
              <c:strCache>
                <c:ptCount val="1"/>
                <c:pt idx="0">
                  <c:v>Trong chủ đề</c:v>
                </c:pt>
              </c:strCache>
            </c:strRef>
          </c:tx>
          <c:spPr>
            <a:solidFill>
              <a:srgbClr val="1D4E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0.7391</c:v>
                </c:pt>
                <c:pt idx="1">
                  <c:v>0.7363</c:v>
                </c:pt>
                <c:pt idx="2">
                  <c:v>0.7259</c:v>
                </c:pt>
                <c:pt idx="3">
                  <c:v>0.7046</c:v>
                </c:pt>
                <c:pt idx="4">
                  <c:v>0.6523</c:v>
                </c:pt>
                <c:pt idx="5">
                  <c:v>0.6282</c:v>
                </c:pt>
              </c:numCache>
            </c:numRef>
          </c:val>
        </c:ser>
        <c:ser>
          <c:idx val="1"/>
          <c:order val="1"/>
          <c:tx>
            <c:strRef>
              <c:f>Sheet1!$C$1</c:f>
              <c:strCache>
                <c:ptCount val="1"/>
                <c:pt idx="0">
                  <c:v>Ngoài chủ đề</c:v>
                </c:pt>
              </c:strCache>
            </c:strRef>
          </c:tx>
          <c:spPr>
            <a:solidFill>
              <a:srgbClr val="F27A2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Sheet1!$C$2:$C$7</c:f>
              <c:numCache>
                <c:formatCode>General</c:formatCode>
                <c:ptCount val="6"/>
                <c:pt idx="0">
                  <c:v>0.4361</c:v>
                </c:pt>
                <c:pt idx="1">
                  <c:v>0.4256</c:v>
                </c:pt>
                <c:pt idx="2">
                  <c:v>0.419</c:v>
                </c:pt>
                <c:pt idx="3">
                  <c:v>0.3723</c:v>
                </c:pt>
                <c:pt idx="4">
                  <c:v>0.3432</c:v>
                </c:pt>
                <c:pt idx="5">
                  <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12700" cap="flat">
              <a:solidFill>
                <a:srgbClr val="DCE6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Config A — dense only</c:v>
                </c:pt>
              </c:strCache>
            </c:strRef>
          </c:tx>
          <c:spPr>
            <a:solidFill>
              <a:srgbClr val="1D4ED8"/>
            </a:solidFill>
            <a:effectLst/>
          </c:spPr>
          <c:invertIfNegative val="0"/>
          <c:dLbls>
            <c:numFmt formatCode="0.00" sourceLinked="0"/>
            <c:txPr>
              <a:bodyPr/>
              <a:lstStyle/>
              <a:p>
                <a:pPr>
                  <a:defRPr b="0" i="0" strike="noStrike" sz="900" u="none">
                    <a:solidFill>
                      <a:srgbClr val="1E293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Faithfulness</c:v>
                  </c:pt>
                  <c:pt idx="1">
                    <c:v>Answer relevance</c:v>
                  </c:pt>
                  <c:pt idx="2">
                    <c:v>Context recall</c:v>
                  </c:pt>
                  <c:pt idx="3">
                    <c:v>Context precision</c:v>
                  </c:pt>
                </c:lvl>
              </c:multiLvlStrCache>
            </c:multiLvlStrRef>
          </c:cat>
          <c:val>
            <c:numRef>
              <c:f>Sheet1!$B$2:$B$5</c:f>
              <c:numCache>
                <c:formatCode>General</c:formatCode>
                <c:ptCount val="4"/>
                <c:pt idx="0">
                  <c:v>1</c:v>
                </c:pt>
                <c:pt idx="1">
                  <c:v>0.4426</c:v>
                </c:pt>
                <c:pt idx="2">
                  <c:v>0.9238</c:v>
                </c:pt>
                <c:pt idx="3">
                  <c:v>0.9047</c:v>
                </c:pt>
              </c:numCache>
            </c:numRef>
          </c:val>
        </c:ser>
        <c:ser>
          <c:idx val="1"/>
          <c:order val="1"/>
          <c:tx>
            <c:strRef>
              <c:f>Sheet1!$C$1</c:f>
              <c:strCache>
                <c:ptCount val="1"/>
                <c:pt idx="0">
                  <c:v>Config B — hybrid + RRF</c:v>
                </c:pt>
              </c:strCache>
            </c:strRef>
          </c:tx>
          <c:spPr>
            <a:solidFill>
              <a:srgbClr val="F27A2A"/>
            </a:solidFill>
            <a:effectLst/>
          </c:spPr>
          <c:invertIfNegative val="0"/>
          <c:dLbls>
            <c:numFmt formatCode="0.00" sourceLinked="0"/>
            <c:txPr>
              <a:bodyPr/>
              <a:lstStyle/>
              <a:p>
                <a:pPr>
                  <a:defRPr b="0" i="0" strike="noStrike" sz="900" u="none">
                    <a:solidFill>
                      <a:srgbClr val="1E293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Faithfulness</c:v>
                  </c:pt>
                  <c:pt idx="1">
                    <c:v>Answer relevance</c:v>
                  </c:pt>
                  <c:pt idx="2">
                    <c:v>Context recall</c:v>
                  </c:pt>
                  <c:pt idx="3">
                    <c:v>Context precision</c:v>
                  </c:pt>
                </c:lvl>
              </c:multiLvlStrCache>
            </c:multiLvlStrRef>
          </c:cat>
          <c:val>
            <c:numRef>
              <c:f>Sheet1!$C$2:$C$5</c:f>
              <c:numCache>
                <c:formatCode>General</c:formatCode>
                <c:ptCount val="4"/>
                <c:pt idx="0">
                  <c:v>0.9643</c:v>
                </c:pt>
                <c:pt idx="1">
                  <c:v>0.4345</c:v>
                </c:pt>
                <c:pt idx="2">
                  <c:v>0.8952</c:v>
                </c:pt>
                <c:pt idx="3">
                  <c:v>0.8903</c:v>
                </c:pt>
              </c:numCache>
            </c:numRef>
          </c:val>
        </c:ser>
        <c:dLbls>
          <c:numFmt formatCode="0.00" sourceLinked="0"/>
          <c:txPr>
            <a:bodyPr/>
            <a:lstStyle/>
            <a:p>
              <a:pPr>
                <a:defRPr b="0" i="0" strike="noStrike" sz="900" u="none">
                  <a:solidFill>
                    <a:srgbClr val="1E293B"/>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E293B"/>
                </a:solidFill>
                <a:latin typeface="Calibri"/>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12700" cap="flat">
              <a:solidFill>
                <a:srgbClr val="DCE6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em xây dựng hệ thống hỏi đáp quy chế UIT bằng RAG. Em sẽ trình bày theo đúng 5 checkpoint của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checkpoint nối tiếp nhau. Corpus hỏng thì mọi bước sau vô nghĩa, nên nhóm đầu tư nhiều nhất vào bước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viết script sàng 69 PDF theo tỉ lệ ký tự tiếng Việt có dấu. Chỉ 24 file dùng được, nhóm chọn 6 file phủ 6 chủ đề tách bạch.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lỗi nhóm tâm đắc nhất. Nó không làm test đỏ, chỉ lộ ra khi đối chiếu từng câu golden với văn bản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không giữ giá trị mặc định 500 mà đo trước. Với 500 thì hai phần ba số Điều bị chẻ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danh sách phải độc lập và ổn định thì mới có đầu vào hợp lệ cho fusion ở bước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RRF bỏ hẳn độ lớn score, chỉ dùng thứ hạng. k=60 làm phẳng chênh lệch giữa các hạng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Ngưỡng này chỉ đúng với corpus và model embedding hiện tại. Đổi bất kỳ yếu tố nào cũng phải đo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âm tính nhóm giữ lại trong báo cáo: không tìm được ngưỡng cho fallback, nên quyết định tin cậy đặt ở dense score và việc từ chối đặt ở tầng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thầy cô thấy số Document nhảy không theo thứ tự thì đó là cố ý, không phải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Cùng golden dataset, cùng generator gpt-4o-mini, cùng evaluator, cùng top_k và threshold. Chỉ bước hợp nhất xếp hạng thay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số 2 đáng chú ý nhất: faithfulness và precision vẫn 1.000, chỉ recall lộ ra việc mất bằng chứng. Không được kết luận từ điểm trung bình.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phần trình bày. Em xin demo trực tiếp hệ thống và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3A"/>
        </a:solidFill>
      </p:bgPr>
    </p:bg>
    <p:spTree>
      <p:nvGrpSpPr>
        <p:cNvPr id="1" name=""/>
        <p:cNvGrpSpPr/>
        <p:nvPr/>
      </p:nvGrpSpPr>
      <p:grpSpPr>
        <a:xfrm>
          <a:off x="0" y="0"/>
          <a:ext cx="0" cy="0"/>
          <a:chOff x="0" y="0"/>
          <a:chExt cx="0" cy="0"/>
        </a:xfrm>
      </p:grpSpPr>
      <p:sp>
        <p:nvSpPr>
          <p:cNvPr id="2" name="Shape 0"/>
          <p:cNvSpPr/>
          <p:nvPr/>
        </p:nvSpPr>
        <p:spPr>
          <a:xfrm rot="960000">
            <a:off x="9509760" y="-640080"/>
            <a:ext cx="2377440" cy="2377440"/>
          </a:xfrm>
          <a:prstGeom prst="roundRect">
            <a:avLst>
              <a:gd name="adj" fmla="val 7692"/>
            </a:avLst>
          </a:prstGeom>
          <a:solidFill>
            <a:srgbClr val="F27A2A">
              <a:alpha val="22000"/>
            </a:srgbClr>
          </a:solidFill>
          <a:ln w="12700">
            <a:solidFill>
              <a:srgbClr val="F27A2A">
                <a:alpha val="22000"/>
              </a:srgbClr>
            </a:solidFill>
            <a:prstDash val="solid"/>
          </a:ln>
        </p:spPr>
      </p:sp>
      <p:sp>
        <p:nvSpPr>
          <p:cNvPr id="3" name="Shape 1"/>
          <p:cNvSpPr/>
          <p:nvPr/>
        </p:nvSpPr>
        <p:spPr>
          <a:xfrm rot="-720000">
            <a:off x="10607040" y="4937760"/>
            <a:ext cx="2011680" cy="2011680"/>
          </a:xfrm>
          <a:prstGeom prst="roundRect">
            <a:avLst>
              <a:gd name="adj" fmla="val 9091"/>
            </a:avLst>
          </a:prstGeom>
          <a:solidFill>
            <a:srgbClr val="6C97FA">
              <a:alpha val="20000"/>
            </a:srgbClr>
          </a:solidFill>
          <a:ln w="12700">
            <a:solidFill>
              <a:srgbClr val="6C97FA">
                <a:alpha val="20000"/>
              </a:srgbClr>
            </a:solidFill>
            <a:prstDash val="solid"/>
          </a:ln>
        </p:spPr>
      </p:sp>
      <p:sp>
        <p:nvSpPr>
          <p:cNvPr id="4" name="Text 2"/>
          <p:cNvSpPr txBox="1"/>
          <p:nvPr/>
        </p:nvSpPr>
        <p:spPr>
          <a:xfrm>
            <a:off x="566928" y="1234440"/>
            <a:ext cx="8686800" cy="365760"/>
          </a:xfrm>
          <a:prstGeom prst="rect">
            <a:avLst/>
          </a:prstGeom>
          <a:noFill/>
          <a:ln/>
        </p:spPr>
        <p:txBody>
          <a:bodyPr wrap="square" lIns="0" tIns="0" rIns="0" bIns="0" rtlCol="0" anchor="ctr"/>
          <a:lstStyle/>
          <a:p>
            <a:pPr indent="0" marL="0">
              <a:buNone/>
            </a:pPr>
            <a:r>
              <a:rPr lang="en-US" sz="1300" b="1" spc="200" kern="0" dirty="0">
                <a:solidFill>
                  <a:srgbClr val="F27A2A"/>
                </a:solidFill>
                <a:latin typeface="Calibri" pitchFamily="34" charset="0"/>
                <a:ea typeface="Calibri" pitchFamily="34" charset="-122"/>
                <a:cs typeface="Calibri" pitchFamily="34" charset="-120"/>
              </a:rPr>
              <a:t>ĐỒ ÁN RAG PIPELINE — NHÓM K4-L3B</a:t>
            </a:r>
            <a:endParaRPr lang="en-US" sz="1300" dirty="0"/>
          </a:p>
        </p:txBody>
      </p:sp>
      <p:sp>
        <p:nvSpPr>
          <p:cNvPr id="5" name="Text 3"/>
          <p:cNvSpPr txBox="1"/>
          <p:nvPr/>
        </p:nvSpPr>
        <p:spPr>
          <a:xfrm>
            <a:off x="566928" y="1691640"/>
            <a:ext cx="8778240" cy="17373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Hệ thống hỏi đáp</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quy chế và quy định UIT</a:t>
            </a:r>
            <a:endParaRPr lang="en-US" sz="4600" dirty="0"/>
          </a:p>
        </p:txBody>
      </p:sp>
      <p:sp>
        <p:nvSpPr>
          <p:cNvPr id="6" name="Text 4"/>
          <p:cNvSpPr txBox="1"/>
          <p:nvPr/>
        </p:nvSpPr>
        <p:spPr>
          <a:xfrm>
            <a:off x="566928" y="3566160"/>
            <a:ext cx="8503920" cy="640080"/>
          </a:xfrm>
          <a:prstGeom prst="rect">
            <a:avLst/>
          </a:prstGeom>
          <a:noFill/>
          <a:ln/>
        </p:spPr>
        <p:txBody>
          <a:bodyPr wrap="square" lIns="0" tIns="0" rIns="0" bIns="0" rtlCol="0" anchor="ctr"/>
          <a:lstStyle/>
          <a:p>
            <a:pPr indent="0" marL="0">
              <a:lnSpc>
                <a:spcPct val="120000"/>
              </a:lnSpc>
              <a:buNone/>
            </a:pPr>
            <a:r>
              <a:rPr lang="en-US" sz="1500" dirty="0">
                <a:solidFill>
                  <a:srgbClr val="C7D3E6"/>
                </a:solidFill>
                <a:latin typeface="Calibri" pitchFamily="34" charset="0"/>
                <a:ea typeface="Calibri" pitchFamily="34" charset="-122"/>
                <a:cs typeface="Calibri" pitchFamily="34" charset="-120"/>
              </a:rPr>
              <a:t>Truy xuất lai dense + BM25 + RRF, có ngưỡng fallback và câu trả lời trích dẫn được kiểm chứng</a:t>
            </a:r>
            <a:endParaRPr lang="en-US" sz="1500" dirty="0"/>
          </a:p>
        </p:txBody>
      </p:sp>
      <p:sp>
        <p:nvSpPr>
          <p:cNvPr id="7" name="Text 5"/>
          <p:cNvSpPr txBox="1"/>
          <p:nvPr/>
        </p:nvSpPr>
        <p:spPr>
          <a:xfrm>
            <a:off x="566928" y="4572000"/>
            <a:ext cx="2011680" cy="566928"/>
          </a:xfrm>
          <a:prstGeom prst="rect">
            <a:avLst/>
          </a:prstGeom>
          <a:noFill/>
          <a:ln/>
        </p:spPr>
        <p:txBody>
          <a:bodyPr wrap="square" lIns="0" tIns="0" rIns="0" bIns="0" rtlCol="0" anchor="ctr"/>
          <a:lstStyle/>
          <a:p>
            <a:pPr indent="0" marL="0">
              <a:buNone/>
            </a:pPr>
            <a:r>
              <a:rPr lang="en-US" sz="3200" b="1" dirty="0">
                <a:solidFill>
                  <a:srgbClr val="F27A2A"/>
                </a:solidFill>
                <a:latin typeface="Cambria" pitchFamily="34" charset="0"/>
                <a:ea typeface="Cambria" pitchFamily="34" charset="-122"/>
                <a:cs typeface="Cambria" pitchFamily="34" charset="-120"/>
              </a:rPr>
              <a:t>13</a:t>
            </a:r>
            <a:endParaRPr lang="en-US" sz="3200" dirty="0"/>
          </a:p>
        </p:txBody>
      </p:sp>
      <p:sp>
        <p:nvSpPr>
          <p:cNvPr id="8" name="Text 6"/>
          <p:cNvSpPr txBox="1"/>
          <p:nvPr/>
        </p:nvSpPr>
        <p:spPr>
          <a:xfrm>
            <a:off x="566928" y="5138928"/>
            <a:ext cx="2011680" cy="329184"/>
          </a:xfrm>
          <a:prstGeom prst="rect">
            <a:avLst/>
          </a:prstGeom>
          <a:noFill/>
          <a:ln/>
        </p:spPr>
        <p:txBody>
          <a:bodyPr wrap="square" lIns="0" tIns="0" rIns="0" bIns="0" rtlCol="0" anchor="ctr"/>
          <a:lstStyle/>
          <a:p>
            <a:pPr indent="0" marL="0">
              <a:buNone/>
            </a:pPr>
            <a:r>
              <a:rPr lang="en-US" sz="1200" dirty="0">
                <a:solidFill>
                  <a:srgbClr val="9FB3D0"/>
                </a:solidFill>
                <a:latin typeface="Calibri" pitchFamily="34" charset="0"/>
                <a:ea typeface="Calibri" pitchFamily="34" charset="-122"/>
                <a:cs typeface="Calibri" pitchFamily="34" charset="-120"/>
              </a:rPr>
              <a:t>tài liệu nguồn</a:t>
            </a:r>
            <a:endParaRPr lang="en-US" sz="1200" dirty="0"/>
          </a:p>
        </p:txBody>
      </p:sp>
      <p:sp>
        <p:nvSpPr>
          <p:cNvPr id="9" name="Text 7"/>
          <p:cNvSpPr txBox="1"/>
          <p:nvPr/>
        </p:nvSpPr>
        <p:spPr>
          <a:xfrm>
            <a:off x="2807208" y="4572000"/>
            <a:ext cx="2011680" cy="566928"/>
          </a:xfrm>
          <a:prstGeom prst="rect">
            <a:avLst/>
          </a:prstGeom>
          <a:noFill/>
          <a:ln/>
        </p:spPr>
        <p:txBody>
          <a:bodyPr wrap="square" lIns="0" tIns="0" rIns="0" bIns="0" rtlCol="0" anchor="ctr"/>
          <a:lstStyle/>
          <a:p>
            <a:pPr indent="0" marL="0">
              <a:buNone/>
            </a:pPr>
            <a:r>
              <a:rPr lang="en-US" sz="3200" b="1" dirty="0">
                <a:solidFill>
                  <a:srgbClr val="F27A2A"/>
                </a:solidFill>
                <a:latin typeface="Cambria" pitchFamily="34" charset="0"/>
                <a:ea typeface="Cambria" pitchFamily="34" charset="-122"/>
                <a:cs typeface="Cambria" pitchFamily="34" charset="-120"/>
              </a:rPr>
              <a:t>396</a:t>
            </a:r>
            <a:endParaRPr lang="en-US" sz="3200" dirty="0"/>
          </a:p>
        </p:txBody>
      </p:sp>
      <p:sp>
        <p:nvSpPr>
          <p:cNvPr id="10" name="Text 8"/>
          <p:cNvSpPr txBox="1"/>
          <p:nvPr/>
        </p:nvSpPr>
        <p:spPr>
          <a:xfrm>
            <a:off x="2807208" y="5138928"/>
            <a:ext cx="2011680" cy="329184"/>
          </a:xfrm>
          <a:prstGeom prst="rect">
            <a:avLst/>
          </a:prstGeom>
          <a:noFill/>
          <a:ln/>
        </p:spPr>
        <p:txBody>
          <a:bodyPr wrap="square" lIns="0" tIns="0" rIns="0" bIns="0" rtlCol="0" anchor="ctr"/>
          <a:lstStyle/>
          <a:p>
            <a:pPr indent="0" marL="0">
              <a:buNone/>
            </a:pPr>
            <a:r>
              <a:rPr lang="en-US" sz="1200" dirty="0">
                <a:solidFill>
                  <a:srgbClr val="9FB3D0"/>
                </a:solidFill>
                <a:latin typeface="Calibri" pitchFamily="34" charset="0"/>
                <a:ea typeface="Calibri" pitchFamily="34" charset="-122"/>
                <a:cs typeface="Calibri" pitchFamily="34" charset="-120"/>
              </a:rPr>
              <a:t>chunk đã index</a:t>
            </a:r>
            <a:endParaRPr lang="en-US" sz="1200" dirty="0"/>
          </a:p>
        </p:txBody>
      </p:sp>
      <p:sp>
        <p:nvSpPr>
          <p:cNvPr id="11" name="Text 9"/>
          <p:cNvSpPr txBox="1"/>
          <p:nvPr/>
        </p:nvSpPr>
        <p:spPr>
          <a:xfrm>
            <a:off x="5047488" y="4572000"/>
            <a:ext cx="2011680" cy="566928"/>
          </a:xfrm>
          <a:prstGeom prst="rect">
            <a:avLst/>
          </a:prstGeom>
          <a:noFill/>
          <a:ln/>
        </p:spPr>
        <p:txBody>
          <a:bodyPr wrap="square" lIns="0" tIns="0" rIns="0" bIns="0" rtlCol="0" anchor="ctr"/>
          <a:lstStyle/>
          <a:p>
            <a:pPr indent="0" marL="0">
              <a:buNone/>
            </a:pPr>
            <a:r>
              <a:rPr lang="en-US" sz="3200" b="1" dirty="0">
                <a:solidFill>
                  <a:srgbClr val="F27A2A"/>
                </a:solidFill>
                <a:latin typeface="Cambria" pitchFamily="34" charset="0"/>
                <a:ea typeface="Cambria" pitchFamily="34" charset="-122"/>
                <a:cs typeface="Cambria" pitchFamily="34" charset="-120"/>
              </a:rPr>
              <a:t>15</a:t>
            </a:r>
            <a:endParaRPr lang="en-US" sz="3200" dirty="0"/>
          </a:p>
        </p:txBody>
      </p:sp>
      <p:sp>
        <p:nvSpPr>
          <p:cNvPr id="12" name="Text 10"/>
          <p:cNvSpPr txBox="1"/>
          <p:nvPr/>
        </p:nvSpPr>
        <p:spPr>
          <a:xfrm>
            <a:off x="5047488" y="5138928"/>
            <a:ext cx="2011680" cy="329184"/>
          </a:xfrm>
          <a:prstGeom prst="rect">
            <a:avLst/>
          </a:prstGeom>
          <a:noFill/>
          <a:ln/>
        </p:spPr>
        <p:txBody>
          <a:bodyPr wrap="square" lIns="0" tIns="0" rIns="0" bIns="0" rtlCol="0" anchor="ctr"/>
          <a:lstStyle/>
          <a:p>
            <a:pPr indent="0" marL="0">
              <a:buNone/>
            </a:pPr>
            <a:r>
              <a:rPr lang="en-US" sz="1200" dirty="0">
                <a:solidFill>
                  <a:srgbClr val="9FB3D0"/>
                </a:solidFill>
                <a:latin typeface="Calibri" pitchFamily="34" charset="0"/>
                <a:ea typeface="Calibri" pitchFamily="34" charset="-122"/>
                <a:cs typeface="Calibri" pitchFamily="34" charset="-120"/>
              </a:rPr>
              <a:t>golden case</a:t>
            </a:r>
            <a:endParaRPr lang="en-US" sz="1200" dirty="0"/>
          </a:p>
        </p:txBody>
      </p:sp>
      <p:sp>
        <p:nvSpPr>
          <p:cNvPr id="13" name="Text 11"/>
          <p:cNvSpPr txBox="1"/>
          <p:nvPr/>
        </p:nvSpPr>
        <p:spPr>
          <a:xfrm>
            <a:off x="7287768" y="4572000"/>
            <a:ext cx="2011680" cy="566928"/>
          </a:xfrm>
          <a:prstGeom prst="rect">
            <a:avLst/>
          </a:prstGeom>
          <a:noFill/>
          <a:ln/>
        </p:spPr>
        <p:txBody>
          <a:bodyPr wrap="square" lIns="0" tIns="0" rIns="0" bIns="0" rtlCol="0" anchor="ctr"/>
          <a:lstStyle/>
          <a:p>
            <a:pPr indent="0" marL="0">
              <a:buNone/>
            </a:pPr>
            <a:r>
              <a:rPr lang="en-US" sz="3200" b="1" dirty="0">
                <a:solidFill>
                  <a:srgbClr val="F27A2A"/>
                </a:solidFill>
                <a:latin typeface="Cambria" pitchFamily="34" charset="0"/>
                <a:ea typeface="Cambria" pitchFamily="34" charset="-122"/>
                <a:cs typeface="Cambria" pitchFamily="34" charset="-120"/>
              </a:rPr>
              <a:t>20/20</a:t>
            </a:r>
            <a:endParaRPr lang="en-US" sz="3200" dirty="0"/>
          </a:p>
        </p:txBody>
      </p:sp>
      <p:sp>
        <p:nvSpPr>
          <p:cNvPr id="14" name="Text 12"/>
          <p:cNvSpPr txBox="1"/>
          <p:nvPr/>
        </p:nvSpPr>
        <p:spPr>
          <a:xfrm>
            <a:off x="7287768" y="5138928"/>
            <a:ext cx="2011680" cy="329184"/>
          </a:xfrm>
          <a:prstGeom prst="rect">
            <a:avLst/>
          </a:prstGeom>
          <a:noFill/>
          <a:ln/>
        </p:spPr>
        <p:txBody>
          <a:bodyPr wrap="square" lIns="0" tIns="0" rIns="0" bIns="0" rtlCol="0" anchor="ctr"/>
          <a:lstStyle/>
          <a:p>
            <a:pPr indent="0" marL="0">
              <a:buNone/>
            </a:pPr>
            <a:r>
              <a:rPr lang="en-US" sz="1200" dirty="0">
                <a:solidFill>
                  <a:srgbClr val="9FB3D0"/>
                </a:solidFill>
                <a:latin typeface="Calibri" pitchFamily="34" charset="0"/>
                <a:ea typeface="Calibri" pitchFamily="34" charset="-122"/>
                <a:cs typeface="Calibri" pitchFamily="34" charset="-120"/>
              </a:rPr>
              <a:t>test pass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10896"/>
            <a:ext cx="11027664"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Luồng hệ thống</a:t>
            </a:r>
            <a:endParaRPr lang="en-US" sz="3000" dirty="0"/>
          </a:p>
        </p:txBody>
      </p:sp>
      <p:sp>
        <p:nvSpPr>
          <p:cNvPr id="3" name="Text 1"/>
          <p:cNvSpPr txBox="1"/>
          <p:nvPr/>
        </p:nvSpPr>
        <p:spPr>
          <a:xfrm>
            <a:off x="566928" y="896112"/>
            <a:ext cx="11027664"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Năm checkpoint, mỗi bước là đầu vào bắt buộc của bước sau</a:t>
            </a:r>
            <a:endParaRPr lang="en-US" sz="1350" dirty="0"/>
          </a:p>
        </p:txBody>
      </p:sp>
      <p:sp>
        <p:nvSpPr>
          <p:cNvPr id="4" name="Shape 2"/>
          <p:cNvSpPr/>
          <p:nvPr/>
        </p:nvSpPr>
        <p:spPr>
          <a:xfrm>
            <a:off x="566928" y="1508760"/>
            <a:ext cx="2121408" cy="2834640"/>
          </a:xfrm>
          <a:prstGeom prst="roundRect">
            <a:avLst>
              <a:gd name="adj" fmla="val 5172"/>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5" name="Shape 3"/>
          <p:cNvSpPr/>
          <p:nvPr/>
        </p:nvSpPr>
        <p:spPr>
          <a:xfrm>
            <a:off x="768096" y="1719072"/>
            <a:ext cx="420624" cy="420624"/>
          </a:xfrm>
          <a:prstGeom prst="ellipse">
            <a:avLst/>
          </a:prstGeom>
          <a:solidFill>
            <a:srgbClr val="F27A2A"/>
          </a:solidFill>
          <a:ln w="12700">
            <a:solidFill>
              <a:srgbClr val="F27A2A"/>
            </a:solidFill>
            <a:prstDash val="solid"/>
          </a:ln>
        </p:spPr>
      </p:sp>
      <p:sp>
        <p:nvSpPr>
          <p:cNvPr id="6" name="Text 4"/>
          <p:cNvSpPr txBox="1"/>
          <p:nvPr/>
        </p:nvSpPr>
        <p:spPr>
          <a:xfrm>
            <a:off x="768096" y="171907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768096" y="2249424"/>
            <a:ext cx="1719072" cy="585216"/>
          </a:xfrm>
          <a:prstGeom prst="rect">
            <a:avLst/>
          </a:prstGeom>
          <a:noFill/>
          <a:ln/>
        </p:spPr>
        <p:txBody>
          <a:bodyPr wrap="square" lIns="0" tIns="0" rIns="0" bIns="0" rtlCol="0" anchor="t"/>
          <a:lstStyle/>
          <a:p>
            <a:pPr indent="0" marL="0">
              <a:buNone/>
            </a:pPr>
            <a:r>
              <a:rPr lang="en-US" sz="1550" b="1" dirty="0">
                <a:solidFill>
                  <a:srgbClr val="1E3A8A"/>
                </a:solidFill>
                <a:latin typeface="Cambria" pitchFamily="34" charset="0"/>
                <a:ea typeface="Cambria" pitchFamily="34" charset="-122"/>
                <a:cs typeface="Cambria" pitchFamily="34" charset="-120"/>
              </a:rPr>
              <a:t>Corpus</a:t>
            </a:r>
            <a:endParaRPr lang="en-US" sz="1550" dirty="0"/>
          </a:p>
        </p:txBody>
      </p:sp>
      <p:sp>
        <p:nvSpPr>
          <p:cNvPr id="8" name="Text 6"/>
          <p:cNvSpPr txBox="1"/>
          <p:nvPr/>
        </p:nvSpPr>
        <p:spPr>
          <a:xfrm>
            <a:off x="768096" y="2852928"/>
            <a:ext cx="1719072" cy="868680"/>
          </a:xfrm>
          <a:prstGeom prst="rect">
            <a:avLst/>
          </a:prstGeom>
          <a:noFill/>
          <a:ln/>
        </p:spPr>
        <p:txBody>
          <a:bodyPr wrap="square" lIns="0" tIns="0" rIns="0" bIns="0" rtlCol="0" anchor="ctr"/>
          <a:lstStyle/>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Thu thập · crawl</a:t>
            </a:r>
            <a:endParaRPr lang="en-US" sz="1200" dirty="0"/>
          </a:p>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chuẩn hóa Markdown</a:t>
            </a:r>
            <a:endParaRPr lang="en-US" sz="1200" dirty="0"/>
          </a:p>
        </p:txBody>
      </p:sp>
      <p:sp>
        <p:nvSpPr>
          <p:cNvPr id="9" name="Text 7"/>
          <p:cNvSpPr txBox="1"/>
          <p:nvPr/>
        </p:nvSpPr>
        <p:spPr>
          <a:xfrm>
            <a:off x="768096" y="3785616"/>
            <a:ext cx="1719072" cy="365760"/>
          </a:xfrm>
          <a:prstGeom prst="rect">
            <a:avLst/>
          </a:prstGeom>
          <a:noFill/>
          <a:ln/>
        </p:spPr>
        <p:txBody>
          <a:bodyPr wrap="square" lIns="0" tIns="0" rIns="0" bIns="0" rtlCol="0" anchor="ctr"/>
          <a:lstStyle/>
          <a:p>
            <a:pPr indent="0" marL="0">
              <a:buNone/>
            </a:pPr>
            <a:r>
              <a:rPr lang="en-US" sz="1150" b="1" dirty="0">
                <a:solidFill>
                  <a:srgbClr val="C2571A"/>
                </a:solidFill>
                <a:latin typeface="Calibri" pitchFamily="34" charset="0"/>
                <a:ea typeface="Calibri" pitchFamily="34" charset="-122"/>
                <a:cs typeface="Calibri" pitchFamily="34" charset="-120"/>
              </a:rPr>
              <a:t>6 PDF + 7 bài viết</a:t>
            </a:r>
            <a:endParaRPr lang="en-US" sz="1150" dirty="0"/>
          </a:p>
        </p:txBody>
      </p:sp>
      <p:sp>
        <p:nvSpPr>
          <p:cNvPr id="10" name="Shape 8"/>
          <p:cNvSpPr/>
          <p:nvPr/>
        </p:nvSpPr>
        <p:spPr>
          <a:xfrm>
            <a:off x="2711196" y="2788920"/>
            <a:ext cx="128016" cy="182880"/>
          </a:xfrm>
          <a:prstGeom prst="rightArrow">
            <a:avLst/>
          </a:prstGeom>
          <a:solidFill>
            <a:srgbClr val="6C97FA"/>
          </a:solidFill>
          <a:ln w="12700">
            <a:solidFill>
              <a:srgbClr val="6C97FA"/>
            </a:solidFill>
            <a:prstDash val="solid"/>
          </a:ln>
        </p:spPr>
      </p:sp>
      <p:sp>
        <p:nvSpPr>
          <p:cNvPr id="11" name="Shape 9"/>
          <p:cNvSpPr/>
          <p:nvPr/>
        </p:nvSpPr>
        <p:spPr>
          <a:xfrm>
            <a:off x="2862072" y="1508760"/>
            <a:ext cx="2121408" cy="2834640"/>
          </a:xfrm>
          <a:prstGeom prst="roundRect">
            <a:avLst>
              <a:gd name="adj" fmla="val 5172"/>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2" name="Shape 10"/>
          <p:cNvSpPr/>
          <p:nvPr/>
        </p:nvSpPr>
        <p:spPr>
          <a:xfrm>
            <a:off x="3063240" y="1719072"/>
            <a:ext cx="420624" cy="420624"/>
          </a:xfrm>
          <a:prstGeom prst="ellipse">
            <a:avLst/>
          </a:prstGeom>
          <a:solidFill>
            <a:srgbClr val="F27A2A"/>
          </a:solidFill>
          <a:ln w="12700">
            <a:solidFill>
              <a:srgbClr val="F27A2A"/>
            </a:solidFill>
            <a:prstDash val="solid"/>
          </a:ln>
        </p:spPr>
      </p:sp>
      <p:sp>
        <p:nvSpPr>
          <p:cNvPr id="13" name="Text 11"/>
          <p:cNvSpPr txBox="1"/>
          <p:nvPr/>
        </p:nvSpPr>
        <p:spPr>
          <a:xfrm>
            <a:off x="3063240" y="171907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3063240" y="2249424"/>
            <a:ext cx="1719072" cy="585216"/>
          </a:xfrm>
          <a:prstGeom prst="rect">
            <a:avLst/>
          </a:prstGeom>
          <a:noFill/>
          <a:ln/>
        </p:spPr>
        <p:txBody>
          <a:bodyPr wrap="square" lIns="0" tIns="0" rIns="0" bIns="0" rtlCol="0" anchor="t"/>
          <a:lstStyle/>
          <a:p>
            <a:pPr indent="0" marL="0">
              <a:buNone/>
            </a:pPr>
            <a:r>
              <a:rPr lang="en-US" sz="1550" b="1" dirty="0">
                <a:solidFill>
                  <a:srgbClr val="1E3A8A"/>
                </a:solidFill>
                <a:latin typeface="Cambria" pitchFamily="34" charset="0"/>
                <a:ea typeface="Cambria" pitchFamily="34" charset="-122"/>
                <a:cs typeface="Cambria" pitchFamily="34" charset="-120"/>
              </a:rPr>
              <a:t>Index &amp; Search</a:t>
            </a:r>
            <a:endParaRPr lang="en-US" sz="1550" dirty="0"/>
          </a:p>
        </p:txBody>
      </p:sp>
      <p:sp>
        <p:nvSpPr>
          <p:cNvPr id="15" name="Text 13"/>
          <p:cNvSpPr txBox="1"/>
          <p:nvPr/>
        </p:nvSpPr>
        <p:spPr>
          <a:xfrm>
            <a:off x="3063240" y="2852928"/>
            <a:ext cx="1719072" cy="868680"/>
          </a:xfrm>
          <a:prstGeom prst="rect">
            <a:avLst/>
          </a:prstGeom>
          <a:noFill/>
          <a:ln/>
        </p:spPr>
        <p:txBody>
          <a:bodyPr wrap="square" lIns="0" tIns="0" rIns="0" bIns="0" rtlCol="0" anchor="ctr"/>
          <a:lstStyle/>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Chunk · embedding</a:t>
            </a:r>
            <a:endParaRPr lang="en-US" sz="1200" dirty="0"/>
          </a:p>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dense + BM25</a:t>
            </a:r>
            <a:endParaRPr lang="en-US" sz="1200" dirty="0"/>
          </a:p>
        </p:txBody>
      </p:sp>
      <p:sp>
        <p:nvSpPr>
          <p:cNvPr id="16" name="Text 14"/>
          <p:cNvSpPr txBox="1"/>
          <p:nvPr/>
        </p:nvSpPr>
        <p:spPr>
          <a:xfrm>
            <a:off x="3063240" y="3785616"/>
            <a:ext cx="1719072" cy="365760"/>
          </a:xfrm>
          <a:prstGeom prst="rect">
            <a:avLst/>
          </a:prstGeom>
          <a:noFill/>
          <a:ln/>
        </p:spPr>
        <p:txBody>
          <a:bodyPr wrap="square" lIns="0" tIns="0" rIns="0" bIns="0" rtlCol="0" anchor="ctr"/>
          <a:lstStyle/>
          <a:p>
            <a:pPr indent="0" marL="0">
              <a:buNone/>
            </a:pPr>
            <a:r>
              <a:rPr lang="en-US" sz="1150" b="1" dirty="0">
                <a:solidFill>
                  <a:srgbClr val="C2571A"/>
                </a:solidFill>
                <a:latin typeface="Calibri" pitchFamily="34" charset="0"/>
                <a:ea typeface="Calibri" pitchFamily="34" charset="-122"/>
                <a:cs typeface="Calibri" pitchFamily="34" charset="-120"/>
              </a:rPr>
              <a:t>396 chunk</a:t>
            </a:r>
            <a:endParaRPr lang="en-US" sz="1150" dirty="0"/>
          </a:p>
        </p:txBody>
      </p:sp>
      <p:sp>
        <p:nvSpPr>
          <p:cNvPr id="17" name="Shape 15"/>
          <p:cNvSpPr/>
          <p:nvPr/>
        </p:nvSpPr>
        <p:spPr>
          <a:xfrm>
            <a:off x="5006340" y="2788920"/>
            <a:ext cx="128016" cy="182880"/>
          </a:xfrm>
          <a:prstGeom prst="rightArrow">
            <a:avLst/>
          </a:prstGeom>
          <a:solidFill>
            <a:srgbClr val="6C97FA"/>
          </a:solidFill>
          <a:ln w="12700">
            <a:solidFill>
              <a:srgbClr val="6C97FA"/>
            </a:solidFill>
            <a:prstDash val="solid"/>
          </a:ln>
        </p:spPr>
      </p:sp>
      <p:sp>
        <p:nvSpPr>
          <p:cNvPr id="18" name="Shape 16"/>
          <p:cNvSpPr/>
          <p:nvPr/>
        </p:nvSpPr>
        <p:spPr>
          <a:xfrm>
            <a:off x="5157216" y="1508760"/>
            <a:ext cx="2121408" cy="2834640"/>
          </a:xfrm>
          <a:prstGeom prst="roundRect">
            <a:avLst>
              <a:gd name="adj" fmla="val 5172"/>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9" name="Shape 17"/>
          <p:cNvSpPr/>
          <p:nvPr/>
        </p:nvSpPr>
        <p:spPr>
          <a:xfrm>
            <a:off x="5358384" y="1719072"/>
            <a:ext cx="420624" cy="420624"/>
          </a:xfrm>
          <a:prstGeom prst="ellipse">
            <a:avLst/>
          </a:prstGeom>
          <a:solidFill>
            <a:srgbClr val="F27A2A"/>
          </a:solidFill>
          <a:ln w="12700">
            <a:solidFill>
              <a:srgbClr val="F27A2A"/>
            </a:solidFill>
            <a:prstDash val="solid"/>
          </a:ln>
        </p:spPr>
      </p:sp>
      <p:sp>
        <p:nvSpPr>
          <p:cNvPr id="20" name="Text 18"/>
          <p:cNvSpPr txBox="1"/>
          <p:nvPr/>
        </p:nvSpPr>
        <p:spPr>
          <a:xfrm>
            <a:off x="5358384" y="171907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5358384" y="2249424"/>
            <a:ext cx="1719072" cy="585216"/>
          </a:xfrm>
          <a:prstGeom prst="rect">
            <a:avLst/>
          </a:prstGeom>
          <a:noFill/>
          <a:ln/>
        </p:spPr>
        <p:txBody>
          <a:bodyPr wrap="square" lIns="0" tIns="0" rIns="0" bIns="0" rtlCol="0" anchor="t"/>
          <a:lstStyle/>
          <a:p>
            <a:pPr indent="0" marL="0">
              <a:buNone/>
            </a:pPr>
            <a:r>
              <a:rPr lang="en-US" sz="1550" b="1" dirty="0">
                <a:solidFill>
                  <a:srgbClr val="1E3A8A"/>
                </a:solidFill>
                <a:latin typeface="Cambria" pitchFamily="34" charset="0"/>
                <a:ea typeface="Cambria" pitchFamily="34" charset="-122"/>
                <a:cs typeface="Cambria" pitchFamily="34" charset="-120"/>
              </a:rPr>
              <a:t>Fusion &amp; Fallback</a:t>
            </a:r>
            <a:endParaRPr lang="en-US" sz="1550" dirty="0"/>
          </a:p>
        </p:txBody>
      </p:sp>
      <p:sp>
        <p:nvSpPr>
          <p:cNvPr id="22" name="Text 20"/>
          <p:cNvSpPr txBox="1"/>
          <p:nvPr/>
        </p:nvSpPr>
        <p:spPr>
          <a:xfrm>
            <a:off x="5358384" y="2852928"/>
            <a:ext cx="1719072" cy="868680"/>
          </a:xfrm>
          <a:prstGeom prst="rect">
            <a:avLst/>
          </a:prstGeom>
          <a:noFill/>
          <a:ln/>
        </p:spPr>
        <p:txBody>
          <a:bodyPr wrap="square" lIns="0" tIns="0" rIns="0" bIns="0" rtlCol="0" anchor="ctr"/>
          <a:lstStyle/>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RRF k=60</a:t>
            </a:r>
            <a:endParaRPr lang="en-US" sz="1200" dirty="0"/>
          </a:p>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ngưỡng tin cậy</a:t>
            </a:r>
            <a:endParaRPr lang="en-US" sz="1200" dirty="0"/>
          </a:p>
        </p:txBody>
      </p:sp>
      <p:sp>
        <p:nvSpPr>
          <p:cNvPr id="23" name="Text 21"/>
          <p:cNvSpPr txBox="1"/>
          <p:nvPr/>
        </p:nvSpPr>
        <p:spPr>
          <a:xfrm>
            <a:off x="5358384" y="3785616"/>
            <a:ext cx="1719072" cy="365760"/>
          </a:xfrm>
          <a:prstGeom prst="rect">
            <a:avLst/>
          </a:prstGeom>
          <a:noFill/>
          <a:ln/>
        </p:spPr>
        <p:txBody>
          <a:bodyPr wrap="square" lIns="0" tIns="0" rIns="0" bIns="0" rtlCol="0" anchor="ctr"/>
          <a:lstStyle/>
          <a:p>
            <a:pPr indent="0" marL="0">
              <a:buNone/>
            </a:pPr>
            <a:r>
              <a:rPr lang="en-US" sz="1150" b="1" dirty="0">
                <a:solidFill>
                  <a:srgbClr val="C2571A"/>
                </a:solidFill>
                <a:latin typeface="Calibri" pitchFamily="34" charset="0"/>
                <a:ea typeface="Calibri" pitchFamily="34" charset="-122"/>
                <a:cs typeface="Calibri" pitchFamily="34" charset="-120"/>
              </a:rPr>
              <a:t>threshold 0.55</a:t>
            </a:r>
            <a:endParaRPr lang="en-US" sz="1150" dirty="0"/>
          </a:p>
        </p:txBody>
      </p:sp>
      <p:sp>
        <p:nvSpPr>
          <p:cNvPr id="24" name="Shape 22"/>
          <p:cNvSpPr/>
          <p:nvPr/>
        </p:nvSpPr>
        <p:spPr>
          <a:xfrm>
            <a:off x="7301484" y="2788920"/>
            <a:ext cx="128016" cy="182880"/>
          </a:xfrm>
          <a:prstGeom prst="rightArrow">
            <a:avLst/>
          </a:prstGeom>
          <a:solidFill>
            <a:srgbClr val="6C97FA"/>
          </a:solidFill>
          <a:ln w="12700">
            <a:solidFill>
              <a:srgbClr val="6C97FA"/>
            </a:solidFill>
            <a:prstDash val="solid"/>
          </a:ln>
        </p:spPr>
      </p:sp>
      <p:sp>
        <p:nvSpPr>
          <p:cNvPr id="25" name="Shape 23"/>
          <p:cNvSpPr/>
          <p:nvPr/>
        </p:nvSpPr>
        <p:spPr>
          <a:xfrm>
            <a:off x="7452360" y="1508760"/>
            <a:ext cx="2121408" cy="2834640"/>
          </a:xfrm>
          <a:prstGeom prst="roundRect">
            <a:avLst>
              <a:gd name="adj" fmla="val 5172"/>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26" name="Shape 24"/>
          <p:cNvSpPr/>
          <p:nvPr/>
        </p:nvSpPr>
        <p:spPr>
          <a:xfrm>
            <a:off x="7653528" y="1719072"/>
            <a:ext cx="420624" cy="420624"/>
          </a:xfrm>
          <a:prstGeom prst="ellipse">
            <a:avLst/>
          </a:prstGeom>
          <a:solidFill>
            <a:srgbClr val="F27A2A"/>
          </a:solidFill>
          <a:ln w="12700">
            <a:solidFill>
              <a:srgbClr val="F27A2A"/>
            </a:solidFill>
            <a:prstDash val="solid"/>
          </a:ln>
        </p:spPr>
      </p:sp>
      <p:sp>
        <p:nvSpPr>
          <p:cNvPr id="27" name="Text 25"/>
          <p:cNvSpPr txBox="1"/>
          <p:nvPr/>
        </p:nvSpPr>
        <p:spPr>
          <a:xfrm>
            <a:off x="7653528" y="171907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Text 26"/>
          <p:cNvSpPr txBox="1"/>
          <p:nvPr/>
        </p:nvSpPr>
        <p:spPr>
          <a:xfrm>
            <a:off x="7653528" y="2249424"/>
            <a:ext cx="1719072" cy="585216"/>
          </a:xfrm>
          <a:prstGeom prst="rect">
            <a:avLst/>
          </a:prstGeom>
          <a:noFill/>
          <a:ln/>
        </p:spPr>
        <p:txBody>
          <a:bodyPr wrap="square" lIns="0" tIns="0" rIns="0" bIns="0" rtlCol="0" anchor="t"/>
          <a:lstStyle/>
          <a:p>
            <a:pPr indent="0" marL="0">
              <a:buNone/>
            </a:pPr>
            <a:r>
              <a:rPr lang="en-US" sz="1550" b="1" dirty="0">
                <a:solidFill>
                  <a:srgbClr val="1E3A8A"/>
                </a:solidFill>
                <a:latin typeface="Cambria" pitchFamily="34" charset="0"/>
                <a:ea typeface="Cambria" pitchFamily="34" charset="-122"/>
                <a:cs typeface="Cambria" pitchFamily="34" charset="-120"/>
              </a:rPr>
              <a:t>Generation &amp; UI</a:t>
            </a:r>
            <a:endParaRPr lang="en-US" sz="1550" dirty="0"/>
          </a:p>
        </p:txBody>
      </p:sp>
      <p:sp>
        <p:nvSpPr>
          <p:cNvPr id="29" name="Text 27"/>
          <p:cNvSpPr txBox="1"/>
          <p:nvPr/>
        </p:nvSpPr>
        <p:spPr>
          <a:xfrm>
            <a:off x="7653528" y="2852928"/>
            <a:ext cx="1719072" cy="868680"/>
          </a:xfrm>
          <a:prstGeom prst="rect">
            <a:avLst/>
          </a:prstGeom>
          <a:noFill/>
          <a:ln/>
        </p:spPr>
        <p:txBody>
          <a:bodyPr wrap="square" lIns="0" tIns="0" rIns="0" bIns="0" rtlCol="0" anchor="ctr"/>
          <a:lstStyle/>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Citation</a:t>
            </a:r>
            <a:endParaRPr lang="en-US" sz="1200" dirty="0"/>
          </a:p>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safe refusal</a:t>
            </a:r>
            <a:endParaRPr lang="en-US" sz="1200" dirty="0"/>
          </a:p>
        </p:txBody>
      </p:sp>
      <p:sp>
        <p:nvSpPr>
          <p:cNvPr id="30" name="Text 28"/>
          <p:cNvSpPr txBox="1"/>
          <p:nvPr/>
        </p:nvSpPr>
        <p:spPr>
          <a:xfrm>
            <a:off x="7653528" y="3785616"/>
            <a:ext cx="1719072" cy="365760"/>
          </a:xfrm>
          <a:prstGeom prst="rect">
            <a:avLst/>
          </a:prstGeom>
          <a:noFill/>
          <a:ln/>
        </p:spPr>
        <p:txBody>
          <a:bodyPr wrap="square" lIns="0" tIns="0" rIns="0" bIns="0" rtlCol="0" anchor="ctr"/>
          <a:lstStyle/>
          <a:p>
            <a:pPr indent="0" marL="0">
              <a:buNone/>
            </a:pPr>
            <a:r>
              <a:rPr lang="en-US" sz="1150" b="1" dirty="0">
                <a:solidFill>
                  <a:srgbClr val="C2571A"/>
                </a:solidFill>
                <a:latin typeface="Calibri" pitchFamily="34" charset="0"/>
                <a:ea typeface="Calibri" pitchFamily="34" charset="-122"/>
                <a:cs typeface="Calibri" pitchFamily="34" charset="-120"/>
              </a:rPr>
              <a:t>Streamlit</a:t>
            </a:r>
            <a:endParaRPr lang="en-US" sz="1150" dirty="0"/>
          </a:p>
        </p:txBody>
      </p:sp>
      <p:sp>
        <p:nvSpPr>
          <p:cNvPr id="31" name="Shape 29"/>
          <p:cNvSpPr/>
          <p:nvPr/>
        </p:nvSpPr>
        <p:spPr>
          <a:xfrm>
            <a:off x="9596628" y="2788920"/>
            <a:ext cx="128016" cy="182880"/>
          </a:xfrm>
          <a:prstGeom prst="rightArrow">
            <a:avLst/>
          </a:prstGeom>
          <a:solidFill>
            <a:srgbClr val="6C97FA"/>
          </a:solidFill>
          <a:ln w="12700">
            <a:solidFill>
              <a:srgbClr val="6C97FA"/>
            </a:solidFill>
            <a:prstDash val="solid"/>
          </a:ln>
        </p:spPr>
      </p:sp>
      <p:sp>
        <p:nvSpPr>
          <p:cNvPr id="32" name="Shape 30"/>
          <p:cNvSpPr/>
          <p:nvPr/>
        </p:nvSpPr>
        <p:spPr>
          <a:xfrm>
            <a:off x="9747504" y="1508760"/>
            <a:ext cx="2121408" cy="2834640"/>
          </a:xfrm>
          <a:prstGeom prst="roundRect">
            <a:avLst>
              <a:gd name="adj" fmla="val 5172"/>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33" name="Shape 31"/>
          <p:cNvSpPr/>
          <p:nvPr/>
        </p:nvSpPr>
        <p:spPr>
          <a:xfrm>
            <a:off x="9948672" y="1719072"/>
            <a:ext cx="420624" cy="420624"/>
          </a:xfrm>
          <a:prstGeom prst="ellipse">
            <a:avLst/>
          </a:prstGeom>
          <a:solidFill>
            <a:srgbClr val="F27A2A"/>
          </a:solidFill>
          <a:ln w="12700">
            <a:solidFill>
              <a:srgbClr val="F27A2A"/>
            </a:solidFill>
            <a:prstDash val="solid"/>
          </a:ln>
        </p:spPr>
      </p:sp>
      <p:sp>
        <p:nvSpPr>
          <p:cNvPr id="34" name="Text 32"/>
          <p:cNvSpPr txBox="1"/>
          <p:nvPr/>
        </p:nvSpPr>
        <p:spPr>
          <a:xfrm>
            <a:off x="9948672" y="171907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5" name="Text 33"/>
          <p:cNvSpPr txBox="1"/>
          <p:nvPr/>
        </p:nvSpPr>
        <p:spPr>
          <a:xfrm>
            <a:off x="9948672" y="2249424"/>
            <a:ext cx="1719072" cy="585216"/>
          </a:xfrm>
          <a:prstGeom prst="rect">
            <a:avLst/>
          </a:prstGeom>
          <a:noFill/>
          <a:ln/>
        </p:spPr>
        <p:txBody>
          <a:bodyPr wrap="square" lIns="0" tIns="0" rIns="0" bIns="0" rtlCol="0" anchor="t"/>
          <a:lstStyle/>
          <a:p>
            <a:pPr indent="0" marL="0">
              <a:buNone/>
            </a:pPr>
            <a:r>
              <a:rPr lang="en-US" sz="1550" b="1" dirty="0">
                <a:solidFill>
                  <a:srgbClr val="1E3A8A"/>
                </a:solidFill>
                <a:latin typeface="Cambria" pitchFamily="34" charset="0"/>
                <a:ea typeface="Cambria" pitchFamily="34" charset="-122"/>
                <a:cs typeface="Cambria" pitchFamily="34" charset="-120"/>
              </a:rPr>
              <a:t>Evaluation</a:t>
            </a:r>
            <a:endParaRPr lang="en-US" sz="1550" dirty="0"/>
          </a:p>
        </p:txBody>
      </p:sp>
      <p:sp>
        <p:nvSpPr>
          <p:cNvPr id="36" name="Text 34"/>
          <p:cNvSpPr txBox="1"/>
          <p:nvPr/>
        </p:nvSpPr>
        <p:spPr>
          <a:xfrm>
            <a:off x="9948672" y="2852928"/>
            <a:ext cx="1719072" cy="868680"/>
          </a:xfrm>
          <a:prstGeom prst="rect">
            <a:avLst/>
          </a:prstGeom>
          <a:noFill/>
          <a:ln/>
        </p:spPr>
        <p:txBody>
          <a:bodyPr wrap="square" lIns="0" tIns="0" rIns="0" bIns="0" rtlCol="0" anchor="ctr"/>
          <a:lstStyle/>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15 golden case</a:t>
            </a:r>
            <a:endParaRPr lang="en-US" sz="1200" dirty="0"/>
          </a:p>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A/B bằng RAGAS</a:t>
            </a:r>
            <a:endParaRPr lang="en-US" sz="1200" dirty="0"/>
          </a:p>
        </p:txBody>
      </p:sp>
      <p:sp>
        <p:nvSpPr>
          <p:cNvPr id="37" name="Text 35"/>
          <p:cNvSpPr txBox="1"/>
          <p:nvPr/>
        </p:nvSpPr>
        <p:spPr>
          <a:xfrm>
            <a:off x="9948672" y="3785616"/>
            <a:ext cx="1719072" cy="365760"/>
          </a:xfrm>
          <a:prstGeom prst="rect">
            <a:avLst/>
          </a:prstGeom>
          <a:noFill/>
          <a:ln/>
        </p:spPr>
        <p:txBody>
          <a:bodyPr wrap="square" lIns="0" tIns="0" rIns="0" bIns="0" rtlCol="0" anchor="ctr"/>
          <a:lstStyle/>
          <a:p>
            <a:pPr indent="0" marL="0">
              <a:buNone/>
            </a:pPr>
            <a:r>
              <a:rPr lang="en-US" sz="1150" b="1" dirty="0">
                <a:solidFill>
                  <a:srgbClr val="C2571A"/>
                </a:solidFill>
                <a:latin typeface="Calibri" pitchFamily="34" charset="0"/>
                <a:ea typeface="Calibri" pitchFamily="34" charset="-122"/>
                <a:cs typeface="Calibri" pitchFamily="34" charset="-120"/>
              </a:rPr>
              <a:t>4 metric</a:t>
            </a:r>
            <a:endParaRPr lang="en-US" sz="1150" dirty="0"/>
          </a:p>
        </p:txBody>
      </p:sp>
      <p:sp>
        <p:nvSpPr>
          <p:cNvPr id="38" name="Shape 36"/>
          <p:cNvSpPr/>
          <p:nvPr/>
        </p:nvSpPr>
        <p:spPr>
          <a:xfrm>
            <a:off x="566928" y="4645152"/>
            <a:ext cx="11027664" cy="960120"/>
          </a:xfrm>
          <a:prstGeom prst="roundRect">
            <a:avLst>
              <a:gd name="adj" fmla="val 11429"/>
            </a:avLst>
          </a:prstGeom>
          <a:solidFill>
            <a:srgbClr val="DBEAFE"/>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39" name="Text 37"/>
          <p:cNvSpPr txBox="1"/>
          <p:nvPr/>
        </p:nvSpPr>
        <p:spPr>
          <a:xfrm>
            <a:off x="822960" y="4773168"/>
            <a:ext cx="10515600" cy="731520"/>
          </a:xfrm>
          <a:prstGeom prst="rect">
            <a:avLst/>
          </a:prstGeom>
          <a:noFill/>
          <a:ln/>
        </p:spPr>
        <p:txBody>
          <a:bodyPr wrap="square" lIns="0" tIns="0" rIns="0" bIns="0" rtlCol="0" anchor="ctr"/>
          <a:lstStyle/>
          <a:p>
            <a:pPr indent="0" marL="0">
              <a:lnSpc>
                <a:spcPct val="120000"/>
              </a:lnSpc>
              <a:buNone/>
            </a:pPr>
            <a:r>
              <a:rPr lang="en-US" sz="1350" b="1" dirty="0">
                <a:solidFill>
                  <a:srgbClr val="1E3A8A"/>
                </a:solidFill>
                <a:latin typeface="Calibri" pitchFamily="34" charset="0"/>
                <a:ea typeface="Calibri" pitchFamily="34" charset="-122"/>
                <a:cs typeface="Calibri" pitchFamily="34" charset="-120"/>
              </a:rPr>
              <a:t>Nguyên tắc xuyên suốt:  </a:t>
            </a:r>
            <a:pPr indent="0" marL="0">
              <a:lnSpc>
                <a:spcPct val="120000"/>
              </a:lnSpc>
              <a:buNone/>
            </a:pPr>
            <a:r>
              <a:rPr lang="en-US" sz="1350" dirty="0">
                <a:solidFill>
                  <a:srgbClr val="1E293B"/>
                </a:solidFill>
                <a:latin typeface="Calibri" pitchFamily="34" charset="0"/>
                <a:ea typeface="Calibri" pitchFamily="34" charset="-122"/>
                <a:cs typeface="Calibri" pitchFamily="34" charset="-120"/>
              </a:rPr>
              <a:t>mỗi kết luận đều phải truy ngược được về một đoạn văn bản gốc có URL công khai. Test xanh không phải bằng chứng về độ chính xác nội dung.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Chọn chủ đề và sàng lọc nguồn</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Quy chế, quy định dành cho sinh viên Trường ĐH Công nghệ Thông tin</a:t>
            </a:r>
            <a:endParaRPr lang="en-US" sz="1350" dirty="0"/>
          </a:p>
        </p:txBody>
      </p:sp>
      <p:sp>
        <p:nvSpPr>
          <p:cNvPr id="6" name="Shape 4"/>
          <p:cNvSpPr/>
          <p:nvPr/>
        </p:nvSpPr>
        <p:spPr>
          <a:xfrm>
            <a:off x="566928" y="1481328"/>
            <a:ext cx="5577840" cy="2743200"/>
          </a:xfrm>
          <a:prstGeom prst="roundRect">
            <a:avLst>
              <a:gd name="adj" fmla="val 4000"/>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7" name="Text 5"/>
          <p:cNvSpPr txBox="1"/>
          <p:nvPr/>
        </p:nvSpPr>
        <p:spPr>
          <a:xfrm>
            <a:off x="841248" y="1664208"/>
            <a:ext cx="5029200" cy="329184"/>
          </a:xfrm>
          <a:prstGeom prst="rect">
            <a:avLst/>
          </a:prstGeom>
          <a:noFill/>
          <a:ln/>
        </p:spPr>
        <p:txBody>
          <a:bodyPr wrap="square" lIns="0" tIns="0" rIns="0" bIns="0" rtlCol="0" anchor="ctr"/>
          <a:lstStyle/>
          <a:p>
            <a:pPr indent="0" marL="0">
              <a:buNone/>
            </a:pPr>
            <a:r>
              <a:rPr lang="en-US" sz="1600" b="1" dirty="0">
                <a:solidFill>
                  <a:srgbClr val="1E3A8A"/>
                </a:solidFill>
                <a:latin typeface="Cambria" pitchFamily="34" charset="0"/>
                <a:ea typeface="Cambria" pitchFamily="34" charset="-122"/>
                <a:cs typeface="Cambria" pitchFamily="34" charset="-120"/>
              </a:rPr>
              <a:t>Vì sao chọn chủ đề này</a:t>
            </a:r>
            <a:endParaRPr lang="en-US" sz="1600" dirty="0"/>
          </a:p>
        </p:txBody>
      </p:sp>
      <p:sp>
        <p:nvSpPr>
          <p:cNvPr id="8" name="Text 6"/>
          <p:cNvSpPr txBox="1"/>
          <p:nvPr/>
        </p:nvSpPr>
        <p:spPr>
          <a:xfrm>
            <a:off x="841248" y="2066544"/>
            <a:ext cx="5029200" cy="2011680"/>
          </a:xfrm>
          <a:prstGeom prst="rect">
            <a:avLst/>
          </a:prstGeom>
          <a:noFill/>
          <a:ln/>
        </p:spPr>
        <p:txBody>
          <a:bodyPr wrap="square" lIns="0" tIns="0" rIns="0" bIns="0" rtlCol="0" anchor="ctr"/>
          <a:lstStyle/>
          <a:p>
            <a:pPr marL="342900" indent="-342900">
              <a:lnSpc>
                <a:spcPct val="115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robots.txt cho phép crawl, không có WAF chặn</a:t>
            </a:r>
            <a:endParaRPr lang="en-US" sz="1300" dirty="0"/>
          </a:p>
          <a:p>
            <a:pPr marL="342900" indent="-342900">
              <a:lnSpc>
                <a:spcPct val="115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Văn bản có số hiệu và ngày ban hành, kiểm chứng được</a:t>
            </a:r>
            <a:endParaRPr lang="en-US" sz="1300" dirty="0"/>
          </a:p>
          <a:p>
            <a:pPr marL="342900" indent="-342900">
              <a:lnSpc>
                <a:spcPct val="115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Nội dung ổn định trong suốt học kỳ</a:t>
            </a:r>
            <a:endParaRPr lang="en-US" sz="1300" dirty="0"/>
          </a:p>
          <a:p>
            <a:pPr marL="342900" indent="-342900">
              <a:lnSpc>
                <a:spcPct val="115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Cùng một tổ chức nên đáp án không mâu thuẫn nhau</a:t>
            </a:r>
            <a:endParaRPr lang="en-US" sz="1300" dirty="0"/>
          </a:p>
        </p:txBody>
      </p:sp>
      <p:sp>
        <p:nvSpPr>
          <p:cNvPr id="9" name="Shape 7"/>
          <p:cNvSpPr/>
          <p:nvPr/>
        </p:nvSpPr>
        <p:spPr>
          <a:xfrm>
            <a:off x="6373368" y="1481328"/>
            <a:ext cx="5221224" cy="2743200"/>
          </a:xfrm>
          <a:prstGeom prst="roundRect">
            <a:avLst>
              <a:gd name="adj" fmla="val 4000"/>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0" name="Text 8"/>
          <p:cNvSpPr txBox="1"/>
          <p:nvPr/>
        </p:nvSpPr>
        <p:spPr>
          <a:xfrm>
            <a:off x="6647688" y="1664208"/>
            <a:ext cx="3657600" cy="329184"/>
          </a:xfrm>
          <a:prstGeom prst="rect">
            <a:avLst/>
          </a:prstGeom>
          <a:noFill/>
          <a:ln/>
        </p:spPr>
        <p:txBody>
          <a:bodyPr wrap="square" lIns="0" tIns="0" rIns="0" bIns="0" rtlCol="0" anchor="ctr"/>
          <a:lstStyle/>
          <a:p>
            <a:pPr indent="0" marL="0">
              <a:buNone/>
            </a:pPr>
            <a:r>
              <a:rPr lang="en-US" sz="1600" b="1" dirty="0">
                <a:solidFill>
                  <a:srgbClr val="1E3A8A"/>
                </a:solidFill>
                <a:latin typeface="Cambria" pitchFamily="34" charset="0"/>
                <a:ea typeface="Cambria" pitchFamily="34" charset="-122"/>
                <a:cs typeface="Cambria" pitchFamily="34" charset="-120"/>
              </a:rPr>
              <a:t>Sàng lọc PDF</a:t>
            </a:r>
            <a:endParaRPr lang="en-US" sz="1600" dirty="0"/>
          </a:p>
        </p:txBody>
      </p:sp>
      <p:sp>
        <p:nvSpPr>
          <p:cNvPr id="11" name="Text 9"/>
          <p:cNvSpPr txBox="1"/>
          <p:nvPr/>
        </p:nvSpPr>
        <p:spPr>
          <a:xfrm>
            <a:off x="6601968" y="2121408"/>
            <a:ext cx="1463040" cy="658368"/>
          </a:xfrm>
          <a:prstGeom prst="rect">
            <a:avLst/>
          </a:prstGeom>
          <a:noFill/>
          <a:ln/>
        </p:spPr>
        <p:txBody>
          <a:bodyPr wrap="square" lIns="0" tIns="0" rIns="0" bIns="0" rtlCol="0" anchor="ctr"/>
          <a:lstStyle/>
          <a:p>
            <a:pPr algn="ctr" indent="0" marL="0">
              <a:buNone/>
            </a:pPr>
            <a:r>
              <a:rPr lang="en-US" sz="4000" b="1" dirty="0">
                <a:solidFill>
                  <a:srgbClr val="64748B"/>
                </a:solidFill>
                <a:latin typeface="Cambria" pitchFamily="34" charset="0"/>
                <a:ea typeface="Cambria" pitchFamily="34" charset="-122"/>
                <a:cs typeface="Cambria" pitchFamily="34" charset="-120"/>
              </a:rPr>
              <a:t>69</a:t>
            </a:r>
            <a:endParaRPr lang="en-US" sz="4000" dirty="0"/>
          </a:p>
        </p:txBody>
      </p:sp>
      <p:sp>
        <p:nvSpPr>
          <p:cNvPr id="12" name="Text 10"/>
          <p:cNvSpPr txBox="1"/>
          <p:nvPr/>
        </p:nvSpPr>
        <p:spPr>
          <a:xfrm>
            <a:off x="6601968" y="2761488"/>
            <a:ext cx="1463040" cy="45720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PDF đã quét</a:t>
            </a:r>
            <a:endParaRPr lang="en-US" sz="1150" dirty="0"/>
          </a:p>
        </p:txBody>
      </p:sp>
      <p:sp>
        <p:nvSpPr>
          <p:cNvPr id="13" name="Text 11"/>
          <p:cNvSpPr txBox="1"/>
          <p:nvPr/>
        </p:nvSpPr>
        <p:spPr>
          <a:xfrm>
            <a:off x="8110728" y="2121408"/>
            <a:ext cx="1463040" cy="658368"/>
          </a:xfrm>
          <a:prstGeom prst="rect">
            <a:avLst/>
          </a:prstGeom>
          <a:noFill/>
          <a:ln/>
        </p:spPr>
        <p:txBody>
          <a:bodyPr wrap="square" lIns="0" tIns="0" rIns="0" bIns="0" rtlCol="0" anchor="ctr"/>
          <a:lstStyle/>
          <a:p>
            <a:pPr algn="ctr" indent="0" marL="0">
              <a:buNone/>
            </a:pPr>
            <a:r>
              <a:rPr lang="en-US" sz="4000" b="1" dirty="0">
                <a:solidFill>
                  <a:srgbClr val="1D4ED8"/>
                </a:solidFill>
                <a:latin typeface="Cambria" pitchFamily="34" charset="0"/>
                <a:ea typeface="Cambria" pitchFamily="34" charset="-122"/>
                <a:cs typeface="Cambria" pitchFamily="34" charset="-120"/>
              </a:rPr>
              <a:t>24</a:t>
            </a:r>
            <a:endParaRPr lang="en-US" sz="4000" dirty="0"/>
          </a:p>
        </p:txBody>
      </p:sp>
      <p:sp>
        <p:nvSpPr>
          <p:cNvPr id="14" name="Text 12"/>
          <p:cNvSpPr txBox="1"/>
          <p:nvPr/>
        </p:nvSpPr>
        <p:spPr>
          <a:xfrm>
            <a:off x="8110728" y="2761488"/>
            <a:ext cx="1463040" cy="45720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có text thật</a:t>
            </a:r>
            <a:endParaRPr lang="en-US" sz="1150" dirty="0"/>
          </a:p>
        </p:txBody>
      </p:sp>
      <p:sp>
        <p:nvSpPr>
          <p:cNvPr id="15" name="Text 13"/>
          <p:cNvSpPr txBox="1"/>
          <p:nvPr/>
        </p:nvSpPr>
        <p:spPr>
          <a:xfrm>
            <a:off x="9619488" y="2121408"/>
            <a:ext cx="1463040" cy="658368"/>
          </a:xfrm>
          <a:prstGeom prst="rect">
            <a:avLst/>
          </a:prstGeom>
          <a:noFill/>
          <a:ln/>
        </p:spPr>
        <p:txBody>
          <a:bodyPr wrap="square" lIns="0" tIns="0" rIns="0" bIns="0" rtlCol="0" anchor="ctr"/>
          <a:lstStyle/>
          <a:p>
            <a:pPr algn="ctr" indent="0" marL="0">
              <a:buNone/>
            </a:pPr>
            <a:r>
              <a:rPr lang="en-US" sz="4000" b="1" dirty="0">
                <a:solidFill>
                  <a:srgbClr val="C2571A"/>
                </a:solidFill>
                <a:latin typeface="Cambria" pitchFamily="34" charset="0"/>
                <a:ea typeface="Cambria" pitchFamily="34" charset="-122"/>
                <a:cs typeface="Cambria" pitchFamily="34" charset="-120"/>
              </a:rPr>
              <a:t>6</a:t>
            </a:r>
            <a:endParaRPr lang="en-US" sz="4000" dirty="0"/>
          </a:p>
        </p:txBody>
      </p:sp>
      <p:sp>
        <p:nvSpPr>
          <p:cNvPr id="16" name="Text 14"/>
          <p:cNvSpPr txBox="1"/>
          <p:nvPr/>
        </p:nvSpPr>
        <p:spPr>
          <a:xfrm>
            <a:off x="9619488" y="2761488"/>
            <a:ext cx="1463040" cy="45720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đưa vào corpus</a:t>
            </a:r>
            <a:endParaRPr lang="en-US" sz="1150" dirty="0"/>
          </a:p>
        </p:txBody>
      </p:sp>
      <p:sp>
        <p:nvSpPr>
          <p:cNvPr id="17" name="Text 15"/>
          <p:cNvSpPr txBox="1"/>
          <p:nvPr/>
        </p:nvSpPr>
        <p:spPr>
          <a:xfrm>
            <a:off x="6647688" y="3401568"/>
            <a:ext cx="4937760" cy="640080"/>
          </a:xfrm>
          <a:prstGeom prst="rect">
            <a:avLst/>
          </a:prstGeom>
          <a:noFill/>
          <a:ln/>
        </p:spPr>
        <p:txBody>
          <a:bodyPr wrap="square" lIns="0" tIns="0" rIns="0" bIns="0" rtlCol="0" anchor="ctr"/>
          <a:lstStyle/>
          <a:p>
            <a:pPr indent="0" marL="0">
              <a:lnSpc>
                <a:spcPct val="120000"/>
              </a:lnSpc>
              <a:buNone/>
            </a:pPr>
            <a:r>
              <a:rPr lang="en-US" sz="1250" dirty="0">
                <a:solidFill>
                  <a:srgbClr val="1E293B"/>
                </a:solidFill>
                <a:latin typeface="Calibri" pitchFamily="34" charset="0"/>
                <a:ea typeface="Calibri" pitchFamily="34" charset="-122"/>
                <a:cs typeface="Calibri" pitchFamily="34" charset="-120"/>
              </a:rPr>
              <a:t>45/69 file là bản scan hoặc OCR bằng font không Unicode — trích ra ký tự rác.</a:t>
            </a:r>
            <a:endParaRPr lang="en-US" sz="1250" dirty="0"/>
          </a:p>
        </p:txBody>
      </p:sp>
      <p:sp>
        <p:nvSpPr>
          <p:cNvPr id="18" name="Shape 16"/>
          <p:cNvSpPr/>
          <p:nvPr/>
        </p:nvSpPr>
        <p:spPr>
          <a:xfrm>
            <a:off x="566928" y="4434840"/>
            <a:ext cx="11027664" cy="1463040"/>
          </a:xfrm>
          <a:prstGeom prst="roundRect">
            <a:avLst>
              <a:gd name="adj" fmla="val 7500"/>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9" name="Text 17"/>
          <p:cNvSpPr txBox="1"/>
          <p:nvPr/>
        </p:nvSpPr>
        <p:spPr>
          <a:xfrm>
            <a:off x="841248" y="4572000"/>
            <a:ext cx="3657600" cy="292608"/>
          </a:xfrm>
          <a:prstGeom prst="rect">
            <a:avLst/>
          </a:prstGeom>
          <a:noFill/>
          <a:ln/>
        </p:spPr>
        <p:txBody>
          <a:bodyPr wrap="square" lIns="0" tIns="0" rIns="0" bIns="0" rtlCol="0" anchor="ctr"/>
          <a:lstStyle/>
          <a:p>
            <a:pPr indent="0" marL="0">
              <a:buNone/>
            </a:pPr>
            <a:r>
              <a:rPr lang="en-US" sz="1500" b="1" dirty="0">
                <a:solidFill>
                  <a:srgbClr val="1E3A8A"/>
                </a:solidFill>
                <a:latin typeface="Cambria" pitchFamily="34" charset="0"/>
                <a:ea typeface="Cambria" pitchFamily="34" charset="-122"/>
                <a:cs typeface="Cambria" pitchFamily="34" charset="-120"/>
              </a:rPr>
              <a:t>Cấu trúc dữ liệu</a:t>
            </a:r>
            <a:endParaRPr lang="en-US" sz="1500" dirty="0"/>
          </a:p>
        </p:txBody>
      </p:sp>
      <p:sp>
        <p:nvSpPr>
          <p:cNvPr id="20" name="Text 18"/>
          <p:cNvSpPr txBox="1"/>
          <p:nvPr/>
        </p:nvSpPr>
        <p:spPr>
          <a:xfrm>
            <a:off x="841248" y="4919472"/>
            <a:ext cx="10479024" cy="822960"/>
          </a:xfrm>
          <a:prstGeom prst="rect">
            <a:avLst/>
          </a:prstGeom>
          <a:noFill/>
          <a:ln/>
        </p:spPr>
        <p:txBody>
          <a:bodyPr wrap="square" lIns="0" tIns="0" rIns="0" bIns="0" rtlCol="0" anchor="ctr"/>
          <a:lstStyle/>
          <a:p>
            <a:pPr indent="0" marL="0">
              <a:lnSpc>
                <a:spcPct val="135000"/>
              </a:lnSpc>
              <a:buNone/>
            </a:pPr>
            <a:r>
              <a:rPr lang="en-US" sz="1150" dirty="0">
                <a:solidFill>
                  <a:srgbClr val="1E293B"/>
                </a:solidFill>
                <a:latin typeface="Courier New" pitchFamily="34" charset="0"/>
                <a:ea typeface="Courier New" pitchFamily="34" charset="-122"/>
                <a:cs typeface="Courier New" pitchFamily="34" charset="-120"/>
              </a:rPr>
              <a:t>data/landing/legal/   6 PDF gốc        →   data/standardized/legal/   6 Markdown</a:t>
            </a:r>
            <a:endParaRPr lang="en-US" sz="1150" dirty="0"/>
          </a:p>
          <a:p>
            <a:pPr indent="0" marL="0">
              <a:lnSpc>
                <a:spcPct val="135000"/>
              </a:lnSpc>
              <a:buNone/>
            </a:pPr>
            <a:r>
              <a:rPr lang="en-US" sz="1150" dirty="0">
                <a:solidFill>
                  <a:srgbClr val="1E293B"/>
                </a:solidFill>
                <a:latin typeface="Courier New" pitchFamily="34" charset="0"/>
                <a:ea typeface="Courier New" pitchFamily="34" charset="-122"/>
                <a:cs typeface="Courier New" pitchFamily="34" charset="-120"/>
              </a:rPr>
              <a:t>data/landing/news/    7 JSON đã crawl  →   data/standardized/news/    7 Markdown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Lỗi dữ liệu chỉ lộ ra khi kiểm chứng</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Văn bản 196/QĐ-ĐHCNTT dùng font ánh xạ sai ký tự</a:t>
            </a:r>
            <a:endParaRPr lang="en-US" sz="1350" dirty="0"/>
          </a:p>
        </p:txBody>
      </p:sp>
      <p:sp>
        <p:nvSpPr>
          <p:cNvPr id="6" name="Shape 4"/>
          <p:cNvSpPr/>
          <p:nvPr/>
        </p:nvSpPr>
        <p:spPr>
          <a:xfrm>
            <a:off x="566928" y="1554480"/>
            <a:ext cx="5394960" cy="1965960"/>
          </a:xfrm>
          <a:prstGeom prst="roundRect">
            <a:avLst>
              <a:gd name="adj" fmla="val 5581"/>
            </a:avLst>
          </a:prstGeom>
          <a:solidFill>
            <a:srgbClr val="FFF1E8"/>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7" name="Text 5"/>
          <p:cNvSpPr txBox="1"/>
          <p:nvPr/>
        </p:nvSpPr>
        <p:spPr>
          <a:xfrm>
            <a:off x="841248" y="1719072"/>
            <a:ext cx="1828800" cy="274320"/>
          </a:xfrm>
          <a:prstGeom prst="rect">
            <a:avLst/>
          </a:prstGeom>
          <a:noFill/>
          <a:ln/>
        </p:spPr>
        <p:txBody>
          <a:bodyPr wrap="square" lIns="0" tIns="0" rIns="0" bIns="0" rtlCol="0" anchor="ctr"/>
          <a:lstStyle/>
          <a:p>
            <a:pPr indent="0" marL="0">
              <a:buNone/>
            </a:pPr>
            <a:r>
              <a:rPr lang="en-US" sz="1100" b="1" spc="150" kern="0" dirty="0">
                <a:solidFill>
                  <a:srgbClr val="C2571A"/>
                </a:solidFill>
                <a:latin typeface="Calibri" pitchFamily="34" charset="0"/>
                <a:ea typeface="Calibri" pitchFamily="34" charset="-122"/>
                <a:cs typeface="Calibri" pitchFamily="34" charset="-120"/>
              </a:rPr>
              <a:t>TRƯỚC</a:t>
            </a:r>
            <a:endParaRPr lang="en-US" sz="1100" dirty="0"/>
          </a:p>
        </p:txBody>
      </p:sp>
      <p:sp>
        <p:nvSpPr>
          <p:cNvPr id="8" name="Text 6"/>
          <p:cNvSpPr txBox="1"/>
          <p:nvPr/>
        </p:nvSpPr>
        <p:spPr>
          <a:xfrm>
            <a:off x="841248" y="2048256"/>
            <a:ext cx="4846320" cy="457200"/>
          </a:xfrm>
          <a:prstGeom prst="rect">
            <a:avLst/>
          </a:prstGeom>
          <a:noFill/>
          <a:ln/>
        </p:spPr>
        <p:txBody>
          <a:bodyPr wrap="square" lIns="0" tIns="0" rIns="0" bIns="0" rtlCol="0" anchor="ctr"/>
          <a:lstStyle/>
          <a:p>
            <a:pPr indent="0" marL="0">
              <a:buNone/>
            </a:pPr>
            <a:r>
              <a:rPr lang="en-US" sz="1500" b="1" dirty="0">
                <a:solidFill>
                  <a:srgbClr val="9A3412"/>
                </a:solidFill>
                <a:latin typeface="Courier New" pitchFamily="34" charset="0"/>
                <a:ea typeface="Courier New" pitchFamily="34" charset="-122"/>
                <a:cs typeface="Courier New" pitchFamily="34" charset="-120"/>
              </a:rPr>
              <a:t>"...tài liệu đƣợc số hóa..."</a:t>
            </a:r>
            <a:endParaRPr lang="en-US" sz="1500" dirty="0"/>
          </a:p>
        </p:txBody>
      </p:sp>
      <p:sp>
        <p:nvSpPr>
          <p:cNvPr id="9" name="Text 7"/>
          <p:cNvSpPr txBox="1"/>
          <p:nvPr/>
        </p:nvSpPr>
        <p:spPr>
          <a:xfrm>
            <a:off x="841248" y="2542032"/>
            <a:ext cx="484632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151 ký tự ƣ / Ƣ thay cho ư / Ư</a:t>
            </a:r>
            <a:endParaRPr lang="en-US" sz="1250" dirty="0"/>
          </a:p>
        </p:txBody>
      </p:sp>
      <p:sp>
        <p:nvSpPr>
          <p:cNvPr id="10" name="Text 8"/>
          <p:cNvSpPr txBox="1"/>
          <p:nvPr/>
        </p:nvSpPr>
        <p:spPr>
          <a:xfrm>
            <a:off x="841248" y="2871216"/>
            <a:ext cx="4846320" cy="502920"/>
          </a:xfrm>
          <a:prstGeom prst="rect">
            <a:avLst/>
          </a:prstGeom>
          <a:noFill/>
          <a:ln/>
        </p:spPr>
        <p:txBody>
          <a:bodyPr wrap="square" lIns="0" tIns="0" rIns="0" bIns="0" rtlCol="0" anchor="ctr"/>
          <a:lstStyle/>
          <a:p>
            <a:pPr indent="0" marL="0">
              <a:lnSpc>
                <a:spcPct val="115000"/>
              </a:lnSpc>
              <a:buNone/>
            </a:pPr>
            <a:r>
              <a:rPr lang="en-US" sz="1200" dirty="0">
                <a:solidFill>
                  <a:srgbClr val="64748B"/>
                </a:solidFill>
                <a:latin typeface="Calibri" pitchFamily="34" charset="0"/>
                <a:ea typeface="Calibri" pitchFamily="34" charset="-122"/>
                <a:cs typeface="Calibri" pitchFamily="34" charset="-120"/>
              </a:rPr>
              <a:t>Cả BM25 lẫn embedding đều không khớp — tài liệu gần như tàng hình.</a:t>
            </a:r>
            <a:endParaRPr lang="en-US" sz="1200" dirty="0"/>
          </a:p>
        </p:txBody>
      </p:sp>
      <p:sp>
        <p:nvSpPr>
          <p:cNvPr id="11" name="Shape 9"/>
          <p:cNvSpPr/>
          <p:nvPr/>
        </p:nvSpPr>
        <p:spPr>
          <a:xfrm>
            <a:off x="6190488" y="1554480"/>
            <a:ext cx="5394960" cy="1965960"/>
          </a:xfrm>
          <a:prstGeom prst="roundRect">
            <a:avLst>
              <a:gd name="adj" fmla="val 5581"/>
            </a:avLst>
          </a:prstGeom>
          <a:solidFill>
            <a:srgbClr val="ECFDF5"/>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2" name="Text 10"/>
          <p:cNvSpPr txBox="1"/>
          <p:nvPr/>
        </p:nvSpPr>
        <p:spPr>
          <a:xfrm>
            <a:off x="6464808" y="1719072"/>
            <a:ext cx="1828800" cy="274320"/>
          </a:xfrm>
          <a:prstGeom prst="rect">
            <a:avLst/>
          </a:prstGeom>
          <a:noFill/>
          <a:ln/>
        </p:spPr>
        <p:txBody>
          <a:bodyPr wrap="square" lIns="0" tIns="0" rIns="0" bIns="0" rtlCol="0" anchor="ctr"/>
          <a:lstStyle/>
          <a:p>
            <a:pPr indent="0" marL="0">
              <a:buNone/>
            </a:pPr>
            <a:r>
              <a:rPr lang="en-US" sz="1100" b="1" spc="150" kern="0" dirty="0">
                <a:solidFill>
                  <a:srgbClr val="047857"/>
                </a:solidFill>
                <a:latin typeface="Calibri" pitchFamily="34" charset="0"/>
                <a:ea typeface="Calibri" pitchFamily="34" charset="-122"/>
                <a:cs typeface="Calibri" pitchFamily="34" charset="-120"/>
              </a:rPr>
              <a:t>SAU</a:t>
            </a:r>
            <a:endParaRPr lang="en-US" sz="1100" dirty="0"/>
          </a:p>
        </p:txBody>
      </p:sp>
      <p:sp>
        <p:nvSpPr>
          <p:cNvPr id="13" name="Text 11"/>
          <p:cNvSpPr txBox="1"/>
          <p:nvPr/>
        </p:nvSpPr>
        <p:spPr>
          <a:xfrm>
            <a:off x="6464808" y="2048256"/>
            <a:ext cx="4846320" cy="457200"/>
          </a:xfrm>
          <a:prstGeom prst="rect">
            <a:avLst/>
          </a:prstGeom>
          <a:noFill/>
          <a:ln/>
        </p:spPr>
        <p:txBody>
          <a:bodyPr wrap="square" lIns="0" tIns="0" rIns="0" bIns="0" rtlCol="0" anchor="ctr"/>
          <a:lstStyle/>
          <a:p>
            <a:pPr indent="0" marL="0">
              <a:buNone/>
            </a:pPr>
            <a:r>
              <a:rPr lang="en-US" sz="1500" b="1" dirty="0">
                <a:solidFill>
                  <a:srgbClr val="047857"/>
                </a:solidFill>
                <a:latin typeface="Courier New" pitchFamily="34" charset="0"/>
                <a:ea typeface="Courier New" pitchFamily="34" charset="-122"/>
                <a:cs typeface="Courier New" pitchFamily="34" charset="-120"/>
              </a:rPr>
              <a:t>"...tài liệu được số hóa..."</a:t>
            </a:r>
            <a:endParaRPr lang="en-US" sz="1500" dirty="0"/>
          </a:p>
        </p:txBody>
      </p:sp>
      <p:sp>
        <p:nvSpPr>
          <p:cNvPr id="14" name="Text 12"/>
          <p:cNvSpPr txBox="1"/>
          <p:nvPr/>
        </p:nvSpPr>
        <p:spPr>
          <a:xfrm>
            <a:off x="6464808" y="2542032"/>
            <a:ext cx="484632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Bảng ánh xạ 2 ký tự trong normalize_text()</a:t>
            </a:r>
            <a:endParaRPr lang="en-US" sz="1250" dirty="0"/>
          </a:p>
        </p:txBody>
      </p:sp>
      <p:sp>
        <p:nvSpPr>
          <p:cNvPr id="15" name="Text 13"/>
          <p:cNvSpPr txBox="1"/>
          <p:nvPr/>
        </p:nvSpPr>
        <p:spPr>
          <a:xfrm>
            <a:off x="6464808" y="2871216"/>
            <a:ext cx="4846320" cy="502920"/>
          </a:xfrm>
          <a:prstGeom prst="rect">
            <a:avLst/>
          </a:prstGeom>
          <a:noFill/>
          <a:ln/>
        </p:spPr>
        <p:txBody>
          <a:bodyPr wrap="square" lIns="0" tIns="0" rIns="0" bIns="0" rtlCol="0" anchor="ctr"/>
          <a:lstStyle/>
          <a:p>
            <a:pPr indent="0" marL="0">
              <a:lnSpc>
                <a:spcPct val="115000"/>
              </a:lnSpc>
              <a:buNone/>
            </a:pPr>
            <a:r>
              <a:rPr lang="en-US" sz="1200" dirty="0">
                <a:solidFill>
                  <a:srgbClr val="64748B"/>
                </a:solidFill>
                <a:latin typeface="Calibri" pitchFamily="34" charset="0"/>
                <a:ea typeface="Calibri" pitchFamily="34" charset="-122"/>
                <a:cs typeface="Calibri" pitchFamily="34" charset="-120"/>
              </a:rPr>
              <a:t>Chỉ map ký tự chắc chắn sai, không đụng tới õ, ĩ là ký tự hợp lệ.</a:t>
            </a:r>
            <a:endParaRPr lang="en-US" sz="1200" dirty="0"/>
          </a:p>
        </p:txBody>
      </p:sp>
      <p:sp>
        <p:nvSpPr>
          <p:cNvPr id="16" name="Shape 14"/>
          <p:cNvSpPr/>
          <p:nvPr/>
        </p:nvSpPr>
        <p:spPr>
          <a:xfrm>
            <a:off x="566928" y="3749040"/>
            <a:ext cx="11027664" cy="1965960"/>
          </a:xfrm>
          <a:prstGeom prst="roundRect">
            <a:avLst>
              <a:gd name="adj" fmla="val 5581"/>
            </a:avLst>
          </a:prstGeom>
          <a:solidFill>
            <a:srgbClr val="DBEAFE"/>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7" name="Text 15"/>
          <p:cNvSpPr txBox="1"/>
          <p:nvPr/>
        </p:nvSpPr>
        <p:spPr>
          <a:xfrm>
            <a:off x="859536" y="3913632"/>
            <a:ext cx="4572000" cy="329184"/>
          </a:xfrm>
          <a:prstGeom prst="rect">
            <a:avLst/>
          </a:prstGeom>
          <a:noFill/>
          <a:ln/>
        </p:spPr>
        <p:txBody>
          <a:bodyPr wrap="square" lIns="0" tIns="0" rIns="0" bIns="0" rtlCol="0" anchor="ctr"/>
          <a:lstStyle/>
          <a:p>
            <a:pPr indent="0" marL="0">
              <a:buNone/>
            </a:pPr>
            <a:r>
              <a:rPr lang="en-US" sz="1600" b="1" dirty="0">
                <a:solidFill>
                  <a:srgbClr val="1E3A8A"/>
                </a:solidFill>
                <a:latin typeface="Cambria" pitchFamily="34" charset="0"/>
                <a:ea typeface="Cambria" pitchFamily="34" charset="-122"/>
                <a:cs typeface="Cambria" pitchFamily="34" charset="-120"/>
              </a:rPr>
              <a:t>Cách phát hiện</a:t>
            </a:r>
            <a:endParaRPr lang="en-US" sz="1600" dirty="0"/>
          </a:p>
        </p:txBody>
      </p:sp>
      <p:sp>
        <p:nvSpPr>
          <p:cNvPr id="18" name="Text 16"/>
          <p:cNvSpPr txBox="1"/>
          <p:nvPr/>
        </p:nvSpPr>
        <p:spPr>
          <a:xfrm>
            <a:off x="859536" y="4297680"/>
            <a:ext cx="10442448" cy="1280160"/>
          </a:xfrm>
          <a:prstGeom prst="rect">
            <a:avLst/>
          </a:prstGeom>
          <a:noFill/>
          <a:ln/>
        </p:spPr>
        <p:txBody>
          <a:bodyPr wrap="square" lIns="0" tIns="0" rIns="0" bIns="0" rtlCol="0" anchor="ctr"/>
          <a:lstStyle/>
          <a:p>
            <a:pPr marL="342900" indent="-342900">
              <a:lnSpc>
                <a:spcPct val="115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Mỗi golden case phải trích expected_context nguyên văn từ corpus. Một case không khớp → truy ra lỗi font.</a:t>
            </a:r>
            <a:endParaRPr lang="en-US" sz="1300" dirty="0"/>
          </a:p>
          <a:p>
            <a:pPr marL="342900" indent="-342900">
              <a:lnSpc>
                <a:spcPct val="115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Acceptance test vẫn xanh trong suốt thời gian đó, vì nó chỉ đếm số file và độ dài tối thiểu.</a:t>
            </a:r>
            <a:endParaRPr lang="en-US" sz="1300" dirty="0"/>
          </a:p>
          <a:p>
            <a:pPr marL="342900" indent="-342900">
              <a:lnSpc>
                <a:spcPct val="115000"/>
              </a:lnSpc>
              <a:spcAft>
                <a:spcPts val="700"/>
              </a:spcAft>
              <a:buSzPct val="100000"/>
              <a:buChar char="•"/>
            </a:pPr>
            <a:r>
              <a:rPr lang="en-US" sz="1300" dirty="0">
                <a:solidFill>
                  <a:srgbClr val="1E293B"/>
                </a:solidFill>
                <a:latin typeface="Calibri" pitchFamily="34" charset="0"/>
                <a:ea typeface="Calibri" pitchFamily="34" charset="-122"/>
                <a:cs typeface="Calibri" pitchFamily="34" charset="-120"/>
              </a:rPr>
              <a:t>Bài học: test là điều kiện cần, đối chiếu thủ công với nguồn gốc mới là điều kiện đủ.</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Chunking dựa trên cấu trúc văn bản</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Đo phân phối độ dài của 156 Điều rồi mới chọn tham số</a:t>
            </a:r>
            <a:endParaRPr lang="en-US" sz="1350" dirty="0"/>
          </a:p>
        </p:txBody>
      </p:sp>
      <p:graphicFrame>
        <p:nvGraphicFramePr>
          <p:cNvPr id="6" name="Chart 0" descr=""/>
          <p:cNvGraphicFramePr/>
          <p:nvPr/>
        </p:nvGraphicFramePr>
        <p:xfrm>
          <a:off x="566928" y="1572768"/>
          <a:ext cx="5029200" cy="25146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916168" y="1572768"/>
            <a:ext cx="5678424" cy="2514600"/>
          </a:xfrm>
          <a:prstGeom prst="roundRect">
            <a:avLst>
              <a:gd name="adj" fmla="val 4364"/>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8" name="Text 5"/>
          <p:cNvSpPr txBox="1"/>
          <p:nvPr/>
        </p:nvSpPr>
        <p:spPr>
          <a:xfrm>
            <a:off x="6190488" y="1737360"/>
            <a:ext cx="5029200" cy="329184"/>
          </a:xfrm>
          <a:prstGeom prst="rect">
            <a:avLst/>
          </a:prstGeom>
          <a:noFill/>
          <a:ln/>
        </p:spPr>
        <p:txBody>
          <a:bodyPr wrap="square" lIns="0" tIns="0" rIns="0" bIns="0" rtlCol="0" anchor="ctr"/>
          <a:lstStyle/>
          <a:p>
            <a:pPr indent="0" marL="0">
              <a:buNone/>
            </a:pPr>
            <a:r>
              <a:rPr lang="en-US" sz="1600" b="1" dirty="0">
                <a:solidFill>
                  <a:srgbClr val="1E3A8A"/>
                </a:solidFill>
                <a:latin typeface="Cambria" pitchFamily="34" charset="0"/>
                <a:ea typeface="Cambria" pitchFamily="34" charset="-122"/>
                <a:cs typeface="Cambria" pitchFamily="34" charset="-120"/>
              </a:rPr>
              <a:t>Tham số nhóm dùng</a:t>
            </a:r>
            <a:endParaRPr lang="en-US" sz="1600" dirty="0"/>
          </a:p>
        </p:txBody>
      </p:sp>
      <p:sp>
        <p:nvSpPr>
          <p:cNvPr id="9" name="Text 6"/>
          <p:cNvSpPr txBox="1"/>
          <p:nvPr/>
        </p:nvSpPr>
        <p:spPr>
          <a:xfrm>
            <a:off x="6190488" y="2139696"/>
            <a:ext cx="4937760" cy="1371600"/>
          </a:xfrm>
          <a:prstGeom prst="rect">
            <a:avLst/>
          </a:prstGeom>
          <a:noFill/>
          <a:ln/>
        </p:spPr>
        <p:txBody>
          <a:bodyPr wrap="square" lIns="0" tIns="0" rIns="0" bIns="0" rtlCol="0" anchor="ctr"/>
          <a:lstStyle/>
          <a:p>
            <a:pPr indent="0" marL="0">
              <a:lnSpc>
                <a:spcPct val="130000"/>
              </a:lnSpc>
              <a:buNone/>
            </a:pPr>
            <a:r>
              <a:rPr lang="en-US" sz="1300" b="1" dirty="0">
                <a:solidFill>
                  <a:srgbClr val="C2571A"/>
                </a:solidFill>
                <a:latin typeface="Calibri" pitchFamily="34" charset="0"/>
                <a:ea typeface="Calibri" pitchFamily="34" charset="-122"/>
                <a:cs typeface="Calibri" pitchFamily="34" charset="-120"/>
              </a:rPr>
              <a:t>CHUNK_SIZE 800   </a:t>
            </a:r>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thay cho 500 của starter — trung vị một Điều là 799 ký tự
</a:t>
            </a:r>
            <a:pPr indent="0" marL="0">
              <a:lnSpc>
                <a:spcPct val="130000"/>
              </a:lnSpc>
              <a:buNone/>
            </a:pPr>
            <a:r>
              <a:rPr lang="en-US" sz="1300" b="1" dirty="0">
                <a:solidFill>
                  <a:srgbClr val="C2571A"/>
                </a:solidFill>
                <a:latin typeface="Calibri" pitchFamily="34" charset="0"/>
                <a:ea typeface="Calibri" pitchFamily="34" charset="-122"/>
                <a:cs typeface="Calibri" pitchFamily="34" charset="-120"/>
              </a:rPr>
              <a:t>CHUNK_OVERLAP 120   </a:t>
            </a:r>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giữ tỉ lệ 15%
</a:t>
            </a:r>
            <a:pPr indent="0" marL="0">
              <a:lnSpc>
                <a:spcPct val="130000"/>
              </a:lnSpc>
              <a:buNone/>
            </a:pPr>
            <a:r>
              <a:rPr lang="en-US" sz="1300" b="1" dirty="0">
                <a:solidFill>
                  <a:srgbClr val="C2571A"/>
                </a:solidFill>
                <a:latin typeface="Calibri" pitchFamily="34" charset="0"/>
                <a:ea typeface="Calibri" pitchFamily="34" charset="-122"/>
                <a:cs typeface="Calibri" pitchFamily="34" charset="-120"/>
              </a:rPr>
              <a:t>Chunk hai tầng   </a:t>
            </a:r>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tách theo heading Chương/Điều trước, cắt theo ký tự sau</a:t>
            </a:r>
            <a:endParaRPr lang="en-US" sz="1300" dirty="0"/>
          </a:p>
        </p:txBody>
      </p:sp>
      <p:sp>
        <p:nvSpPr>
          <p:cNvPr id="10" name="Text 7"/>
          <p:cNvSpPr txBox="1"/>
          <p:nvPr/>
        </p:nvSpPr>
        <p:spPr>
          <a:xfrm>
            <a:off x="6190488" y="3529584"/>
            <a:ext cx="4937760" cy="457200"/>
          </a:xfrm>
          <a:prstGeom prst="rect">
            <a:avLst/>
          </a:prstGeom>
          <a:noFill/>
          <a:ln/>
        </p:spPr>
        <p:txBody>
          <a:bodyPr wrap="square" lIns="0" tIns="0" rIns="0" bIns="0" rtlCol="0" anchor="ctr"/>
          <a:lstStyle/>
          <a:p>
            <a:pPr indent="0" marL="0">
              <a:lnSpc>
                <a:spcPct val="115000"/>
              </a:lnSpc>
              <a:buNone/>
            </a:pPr>
            <a:r>
              <a:rPr lang="en-US" sz="1200" i="1" dirty="0">
                <a:solidFill>
                  <a:srgbClr val="64748B"/>
                </a:solidFill>
                <a:latin typeface="Calibri" pitchFamily="34" charset="0"/>
                <a:ea typeface="Calibri" pitchFamily="34" charset="-122"/>
                <a:cs typeface="Calibri" pitchFamily="34" charset="-120"/>
              </a:rPr>
              <a:t>Mỗi chunk con được gắn lại tên Điều của nó, nếu không thì mảnh thứ 2 trở đi không biết thuộc Điều nào.</a:t>
            </a:r>
            <a:endParaRPr lang="en-US" sz="1200" dirty="0"/>
          </a:p>
        </p:txBody>
      </p:sp>
      <p:sp>
        <p:nvSpPr>
          <p:cNvPr id="11" name="Shape 8"/>
          <p:cNvSpPr/>
          <p:nvPr/>
        </p:nvSpPr>
        <p:spPr>
          <a:xfrm>
            <a:off x="566928" y="4315968"/>
            <a:ext cx="11027664" cy="1463040"/>
          </a:xfrm>
          <a:prstGeom prst="roundRect">
            <a:avLst>
              <a:gd name="adj" fmla="val 7500"/>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2" name="Text 9"/>
          <p:cNvSpPr txBox="1"/>
          <p:nvPr/>
        </p:nvSpPr>
        <p:spPr>
          <a:xfrm>
            <a:off x="859536" y="4462272"/>
            <a:ext cx="5486400" cy="310896"/>
          </a:xfrm>
          <a:prstGeom prst="rect">
            <a:avLst/>
          </a:prstGeom>
          <a:noFill/>
          <a:ln/>
        </p:spPr>
        <p:txBody>
          <a:bodyPr wrap="square" lIns="0" tIns="0" rIns="0" bIns="0" rtlCol="0" anchor="ctr"/>
          <a:lstStyle/>
          <a:p>
            <a:pPr indent="0" marL="0">
              <a:buNone/>
            </a:pPr>
            <a:r>
              <a:rPr lang="en-US" sz="1500" b="1" dirty="0">
                <a:solidFill>
                  <a:srgbClr val="1E3A8A"/>
                </a:solidFill>
                <a:latin typeface="Cambria" pitchFamily="34" charset="0"/>
                <a:ea typeface="Cambria" pitchFamily="34" charset="-122"/>
                <a:cs typeface="Cambria" pitchFamily="34" charset="-120"/>
              </a:rPr>
              <a:t>Chống nhân bản khi index lại</a:t>
            </a:r>
            <a:endParaRPr lang="en-US" sz="1500" dirty="0"/>
          </a:p>
        </p:txBody>
      </p:sp>
      <p:sp>
        <p:nvSpPr>
          <p:cNvPr id="13" name="Text 10"/>
          <p:cNvSpPr txBox="1"/>
          <p:nvPr/>
        </p:nvSpPr>
        <p:spPr>
          <a:xfrm>
            <a:off x="859536" y="4791456"/>
            <a:ext cx="10442448" cy="868680"/>
          </a:xfrm>
          <a:prstGeom prst="rect">
            <a:avLst/>
          </a:prstGeom>
          <a:noFill/>
          <a:ln/>
        </p:spPr>
        <p:txBody>
          <a:bodyPr wrap="square" lIns="0" tIns="0" rIns="0" bIns="0" rtlCol="0" anchor="ctr"/>
          <a:lstStyle/>
          <a:p>
            <a:pPr indent="0" marL="0">
              <a:lnSpc>
                <a:spcPct val="120000"/>
              </a:lnSpc>
              <a:buNone/>
            </a:pPr>
            <a:r>
              <a:rPr lang="en-US" sz="1300" dirty="0">
                <a:solidFill>
                  <a:srgbClr val="1E293B"/>
                </a:solidFill>
                <a:latin typeface="Calibri" pitchFamily="34" charset="0"/>
                <a:ea typeface="Calibri" pitchFamily="34" charset="-122"/>
                <a:cs typeface="Calibri" pitchFamily="34" charset="-120"/>
              </a:rPr>
              <a:t>upsert() chỉ ghi đè ID trùng, không xoá ID cũ. Khi đổi CHUNK_SIZE, số chunk giảm 422 → 396 và 26 chunk của cấu hình cũ vẫn nằm lại, vẫn được search trả về. index_to_vectorstore() phải dọn thêm những ID mồ côi này.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Một corpus, hai đường tìm kiếm độc lập</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Cùng tập 396 chunk, hai cách xếp hạng khác nhau</a:t>
            </a:r>
            <a:endParaRPr lang="en-US" sz="1350" dirty="0"/>
          </a:p>
        </p:txBody>
      </p:sp>
      <p:sp>
        <p:nvSpPr>
          <p:cNvPr id="6" name="Shape 4"/>
          <p:cNvSpPr/>
          <p:nvPr/>
        </p:nvSpPr>
        <p:spPr>
          <a:xfrm>
            <a:off x="566928" y="1536192"/>
            <a:ext cx="5394960" cy="2286000"/>
          </a:xfrm>
          <a:prstGeom prst="roundRect">
            <a:avLst>
              <a:gd name="adj" fmla="val 4800"/>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7" name="Text 5"/>
          <p:cNvSpPr txBox="1"/>
          <p:nvPr/>
        </p:nvSpPr>
        <p:spPr>
          <a:xfrm>
            <a:off x="841248" y="1700784"/>
            <a:ext cx="4846320" cy="384048"/>
          </a:xfrm>
          <a:prstGeom prst="rect">
            <a:avLst/>
          </a:prstGeom>
          <a:noFill/>
          <a:ln/>
        </p:spPr>
        <p:txBody>
          <a:bodyPr wrap="square" lIns="0" tIns="0" rIns="0" bIns="0" rtlCol="0" anchor="ctr"/>
          <a:lstStyle/>
          <a:p>
            <a:pPr indent="0" marL="0">
              <a:buNone/>
            </a:pPr>
            <a:r>
              <a:rPr lang="en-US" sz="2000" b="1" dirty="0">
                <a:solidFill>
                  <a:srgbClr val="1D4ED8"/>
                </a:solidFill>
                <a:latin typeface="Cambria" pitchFamily="34" charset="0"/>
                <a:ea typeface="Cambria" pitchFamily="34" charset="-122"/>
                <a:cs typeface="Cambria" pitchFamily="34" charset="-120"/>
              </a:rPr>
              <a:t>Dense</a:t>
            </a:r>
            <a:endParaRPr lang="en-US" sz="2000" dirty="0"/>
          </a:p>
        </p:txBody>
      </p:sp>
      <p:sp>
        <p:nvSpPr>
          <p:cNvPr id="8" name="Text 6"/>
          <p:cNvSpPr txBox="1"/>
          <p:nvPr/>
        </p:nvSpPr>
        <p:spPr>
          <a:xfrm>
            <a:off x="841248" y="2103120"/>
            <a:ext cx="4846320" cy="29260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BAAI/bge-m3 · 1024 chiều · ChromaDB cosine</a:t>
            </a:r>
            <a:endParaRPr lang="en-US" sz="1150" dirty="0"/>
          </a:p>
        </p:txBody>
      </p:sp>
      <p:sp>
        <p:nvSpPr>
          <p:cNvPr id="9" name="Text 7"/>
          <p:cNvSpPr txBox="1"/>
          <p:nvPr/>
        </p:nvSpPr>
        <p:spPr>
          <a:xfrm>
            <a:off x="841248" y="2487168"/>
            <a:ext cx="4846320" cy="118872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Bắt được câu hỏi diễn đạt khác văn bản.</a:t>
            </a:r>
            <a:endParaRPr lang="en-US" sz="1250" dirty="0"/>
          </a:p>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"sinh viên bị đuổi học" → Điều 16 Xử lý học vụ, dù văn bản viết "buộc thôi học".</a:t>
            </a:r>
            <a:endParaRPr lang="en-US" sz="1250" dirty="0"/>
          </a:p>
        </p:txBody>
      </p:sp>
      <p:sp>
        <p:nvSpPr>
          <p:cNvPr id="10" name="Shape 8"/>
          <p:cNvSpPr/>
          <p:nvPr/>
        </p:nvSpPr>
        <p:spPr>
          <a:xfrm>
            <a:off x="6190488" y="1536192"/>
            <a:ext cx="5394960" cy="2286000"/>
          </a:xfrm>
          <a:prstGeom prst="roundRect">
            <a:avLst>
              <a:gd name="adj" fmla="val 4800"/>
            </a:avLst>
          </a:prstGeom>
          <a:solidFill>
            <a:srgbClr val="FFF4EC"/>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1" name="Text 9"/>
          <p:cNvSpPr txBox="1"/>
          <p:nvPr/>
        </p:nvSpPr>
        <p:spPr>
          <a:xfrm>
            <a:off x="6464808" y="1700784"/>
            <a:ext cx="4846320" cy="384048"/>
          </a:xfrm>
          <a:prstGeom prst="rect">
            <a:avLst/>
          </a:prstGeom>
          <a:noFill/>
          <a:ln/>
        </p:spPr>
        <p:txBody>
          <a:bodyPr wrap="square" lIns="0" tIns="0" rIns="0" bIns="0" rtlCol="0" anchor="ctr"/>
          <a:lstStyle/>
          <a:p>
            <a:pPr indent="0" marL="0">
              <a:buNone/>
            </a:pPr>
            <a:r>
              <a:rPr lang="en-US" sz="2000" b="1" dirty="0">
                <a:solidFill>
                  <a:srgbClr val="C2571A"/>
                </a:solidFill>
                <a:latin typeface="Cambria" pitchFamily="34" charset="0"/>
                <a:ea typeface="Cambria" pitchFamily="34" charset="-122"/>
                <a:cs typeface="Cambria" pitchFamily="34" charset="-120"/>
              </a:rPr>
              <a:t>BM25</a:t>
            </a:r>
            <a:endParaRPr lang="en-US" sz="2000" dirty="0"/>
          </a:p>
        </p:txBody>
      </p:sp>
      <p:sp>
        <p:nvSpPr>
          <p:cNvPr id="12" name="Text 10"/>
          <p:cNvSpPr txBox="1"/>
          <p:nvPr/>
        </p:nvSpPr>
        <p:spPr>
          <a:xfrm>
            <a:off x="6464808" y="2103120"/>
            <a:ext cx="4846320" cy="292608"/>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BM25Plus · tokenizer giữ mã văn bản</a:t>
            </a:r>
            <a:endParaRPr lang="en-US" sz="1150" dirty="0"/>
          </a:p>
        </p:txBody>
      </p:sp>
      <p:sp>
        <p:nvSpPr>
          <p:cNvPr id="13" name="Text 11"/>
          <p:cNvSpPr txBox="1"/>
          <p:nvPr/>
        </p:nvSpPr>
        <p:spPr>
          <a:xfrm>
            <a:off x="6464808" y="2487168"/>
            <a:ext cx="4846320" cy="118872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Bắt chính xác số hiệu và mã.</a:t>
            </a:r>
            <a:endParaRPr lang="en-US" sz="1250" dirty="0"/>
          </a:p>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790/QĐ-ĐHCNTT, Điều 12, TOEIC 450 — dense hay bỏ sót những chuỗi này.</a:t>
            </a:r>
            <a:endParaRPr lang="en-US" sz="1250" dirty="0"/>
          </a:p>
        </p:txBody>
      </p:sp>
      <p:sp>
        <p:nvSpPr>
          <p:cNvPr id="14" name="Shape 12"/>
          <p:cNvSpPr/>
          <p:nvPr/>
        </p:nvSpPr>
        <p:spPr>
          <a:xfrm>
            <a:off x="566928" y="4041648"/>
            <a:ext cx="11027664" cy="1783080"/>
          </a:xfrm>
          <a:prstGeom prst="roundRect">
            <a:avLst>
              <a:gd name="adj" fmla="val 6154"/>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5" name="Text 13"/>
          <p:cNvSpPr txBox="1"/>
          <p:nvPr/>
        </p:nvSpPr>
        <p:spPr>
          <a:xfrm>
            <a:off x="859536" y="4206240"/>
            <a:ext cx="6400800" cy="310896"/>
          </a:xfrm>
          <a:prstGeom prst="rect">
            <a:avLst/>
          </a:prstGeom>
          <a:noFill/>
          <a:ln/>
        </p:spPr>
        <p:txBody>
          <a:bodyPr wrap="square" lIns="0" tIns="0" rIns="0" bIns="0" rtlCol="0" anchor="ctr"/>
          <a:lstStyle/>
          <a:p>
            <a:pPr indent="0" marL="0">
              <a:buNone/>
            </a:pPr>
            <a:r>
              <a:rPr lang="en-US" sz="1500" b="1" dirty="0">
                <a:solidFill>
                  <a:srgbClr val="1E3A8A"/>
                </a:solidFill>
                <a:latin typeface="Cambria" pitchFamily="34" charset="0"/>
                <a:ea typeface="Cambria" pitchFamily="34" charset="-122"/>
                <a:cs typeface="Cambria" pitchFamily="34" charset="-120"/>
              </a:rPr>
              <a:t>Vì sao đổi BM25Okapi sang BM25Plus</a:t>
            </a:r>
            <a:endParaRPr lang="en-US" sz="1500" dirty="0"/>
          </a:p>
        </p:txBody>
      </p:sp>
      <p:sp>
        <p:nvSpPr>
          <p:cNvPr id="16" name="Text 14"/>
          <p:cNvSpPr txBox="1"/>
          <p:nvPr/>
        </p:nvSpPr>
        <p:spPr>
          <a:xfrm>
            <a:off x="859536" y="4553712"/>
            <a:ext cx="10442448" cy="109728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Công thức Okapi tính idf = log(N − n + 0.5) − log(n + 0.5). Với term xuất hiện ở đúng một nửa số tài liệu thì idf = 0 và toàn bộ score về 0. Trên corpus 2 tài liệu của contract test, kể cả code gợi ý sẵn trong starter cũng không thể pass. BM25Plus thêm cận dưới nên xếp hạng vẫn đúng.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Hợp nhất bằng Reciprocal Rank Fusion</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Dense trả 0.60 còn BM25 trả 21.0 — hai thang đo không cộng được</a:t>
            </a:r>
            <a:endParaRPr lang="en-US" sz="1350" dirty="0"/>
          </a:p>
        </p:txBody>
      </p:sp>
      <p:sp>
        <p:nvSpPr>
          <p:cNvPr id="6" name="Shape 4"/>
          <p:cNvSpPr/>
          <p:nvPr/>
        </p:nvSpPr>
        <p:spPr>
          <a:xfrm>
            <a:off x="566928" y="1517904"/>
            <a:ext cx="5029200" cy="1051560"/>
          </a:xfrm>
          <a:prstGeom prst="roundRect">
            <a:avLst>
              <a:gd name="adj" fmla="val 10435"/>
            </a:avLst>
          </a:prstGeom>
          <a:solidFill>
            <a:srgbClr val="DBEAFE"/>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7" name="Text 5"/>
          <p:cNvSpPr txBox="1"/>
          <p:nvPr/>
        </p:nvSpPr>
        <p:spPr>
          <a:xfrm>
            <a:off x="841248" y="1664208"/>
            <a:ext cx="4572000" cy="731520"/>
          </a:xfrm>
          <a:prstGeom prst="rect">
            <a:avLst/>
          </a:prstGeom>
          <a:noFill/>
          <a:ln/>
        </p:spPr>
        <p:txBody>
          <a:bodyPr wrap="square" lIns="0" tIns="0" rIns="0" bIns="0" rtlCol="0" anchor="ctr"/>
          <a:lstStyle/>
          <a:p>
            <a:pPr indent="0" marL="0">
              <a:buNone/>
            </a:pPr>
            <a:r>
              <a:rPr lang="en-US" sz="1400" b="1" dirty="0">
                <a:solidFill>
                  <a:srgbClr val="1E3A8A"/>
                </a:solidFill>
                <a:latin typeface="Courier New" pitchFamily="34" charset="0"/>
                <a:ea typeface="Courier New" pitchFamily="34" charset="-122"/>
                <a:cs typeface="Courier New" pitchFamily="34" charset="-120"/>
              </a:rPr>
              <a:t>RRF(d)  =  Σ  1 / (k + rank)        k = 60,  rank bắt đầu từ 1</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743200"/>
          <a:ext cx="5029200" cy="914400"/>
        </p:xfrm>
        <a:graphic>
          <a:graphicData uri="http://schemas.openxmlformats.org/drawingml/2006/table">
            <a:tbl>
              <a:tblPr/>
              <a:tblGrid>
                <a:gridCol w="1554480"/>
                <a:gridCol w="1143000"/>
                <a:gridCol w="1143000"/>
                <a:gridCol w="1188720"/>
              </a:tblGrid>
              <a:tr h="329184">
                <a:tc>
                  <a:txBody>
                    <a:bodyPr/>
                    <a:lstStyle/>
                    <a:p>
                      <a:pPr algn="ctr" indent="0" marL="0">
                        <a:buNone/>
                      </a:pPr>
                      <a:r>
                        <a:rPr lang="en-US" sz="1250" b="1" dirty="0">
                          <a:solidFill>
                            <a:srgbClr val="1E293B"/>
                          </a:solidFill>
                          <a:latin typeface="Calibri" pitchFamily="34" charset="0"/>
                          <a:ea typeface="Calibri" pitchFamily="34" charset="-122"/>
                          <a:cs typeface="Calibri" pitchFamily="34" charset="-120"/>
                        </a:rPr>
                        <a:t>Chunk</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293B"/>
                          </a:solidFill>
                          <a:latin typeface="Calibri" pitchFamily="34" charset="0"/>
                          <a:ea typeface="Calibri" pitchFamily="34" charset="-122"/>
                          <a:cs typeface="Calibri" pitchFamily="34" charset="-120"/>
                        </a:rPr>
                        <a:t>rank dense</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293B"/>
                          </a:solidFill>
                          <a:latin typeface="Calibri" pitchFamily="34" charset="0"/>
                          <a:ea typeface="Calibri" pitchFamily="34" charset="-122"/>
                          <a:cs typeface="Calibri" pitchFamily="34" charset="-120"/>
                        </a:rPr>
                        <a:t>rank BM25</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293B"/>
                          </a:solidFill>
                          <a:latin typeface="Calibri" pitchFamily="34" charset="0"/>
                          <a:ea typeface="Calibri" pitchFamily="34" charset="-122"/>
                          <a:cs typeface="Calibri" pitchFamily="34" charset="-120"/>
                        </a:rPr>
                        <a:t>RRF score</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chunk-0</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0.01639</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chunk-1</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0.03252</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r h="329184">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chunk-2</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0.01613</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66928" y="4224528"/>
            <a:ext cx="5029200" cy="685800"/>
          </a:xfrm>
          <a:prstGeom prst="rect">
            <a:avLst/>
          </a:prstGeom>
          <a:noFill/>
          <a:ln/>
        </p:spPr>
        <p:txBody>
          <a:bodyPr wrap="square" lIns="0" tIns="0" rIns="0" bIns="0" rtlCol="0" anchor="ctr"/>
          <a:lstStyle/>
          <a:p>
            <a:pPr indent="0" marL="0">
              <a:lnSpc>
                <a:spcPct val="120000"/>
              </a:lnSpc>
              <a:buNone/>
            </a:pPr>
            <a:r>
              <a:rPr lang="en-US" sz="1250" i="1" dirty="0">
                <a:solidFill>
                  <a:srgbClr val="C2571A"/>
                </a:solidFill>
                <a:latin typeface="Calibri" pitchFamily="34" charset="0"/>
                <a:ea typeface="Calibri" pitchFamily="34" charset="-122"/>
                <a:cs typeface="Calibri" pitchFamily="34" charset="-120"/>
              </a:rPr>
              <a:t>chunk-1 thắng dù không đứng đầu ở bất kỳ danh sách nào — đồng thuận giữa hai phương pháp mạnh hơn là dẫn đầu một phía.</a:t>
            </a:r>
            <a:endParaRPr lang="en-US" sz="1250" dirty="0"/>
          </a:p>
        </p:txBody>
      </p:sp>
      <p:sp>
        <p:nvSpPr>
          <p:cNvPr id="10" name="Shape 7"/>
          <p:cNvSpPr/>
          <p:nvPr/>
        </p:nvSpPr>
        <p:spPr>
          <a:xfrm>
            <a:off x="5916168" y="1517904"/>
            <a:ext cx="5678424" cy="4160520"/>
          </a:xfrm>
          <a:prstGeom prst="roundRect">
            <a:avLst>
              <a:gd name="adj" fmla="val 2637"/>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1" name="Text 8"/>
          <p:cNvSpPr txBox="1"/>
          <p:nvPr/>
        </p:nvSpPr>
        <p:spPr>
          <a:xfrm>
            <a:off x="6190488" y="1700784"/>
            <a:ext cx="4937760" cy="329184"/>
          </a:xfrm>
          <a:prstGeom prst="rect">
            <a:avLst/>
          </a:prstGeom>
          <a:noFill/>
          <a:ln/>
        </p:spPr>
        <p:txBody>
          <a:bodyPr wrap="square" lIns="0" tIns="0" rIns="0" bIns="0" rtlCol="0" anchor="ctr"/>
          <a:lstStyle/>
          <a:p>
            <a:pPr indent="0" marL="0">
              <a:buNone/>
            </a:pPr>
            <a:r>
              <a:rPr lang="en-US" sz="1700" b="1" dirty="0">
                <a:solidFill>
                  <a:srgbClr val="1E3A8A"/>
                </a:solidFill>
                <a:latin typeface="Cambria" pitchFamily="34" charset="0"/>
                <a:ea typeface="Cambria" pitchFamily="34" charset="-122"/>
                <a:cs typeface="Cambria" pitchFamily="34" charset="-120"/>
              </a:rPr>
              <a:t>Bẫy đã tránh được</a:t>
            </a:r>
            <a:endParaRPr lang="en-US" sz="1700" dirty="0"/>
          </a:p>
        </p:txBody>
      </p:sp>
      <p:sp>
        <p:nvSpPr>
          <p:cNvPr id="12" name="Text 9"/>
          <p:cNvSpPr txBox="1"/>
          <p:nvPr/>
        </p:nvSpPr>
        <p:spPr>
          <a:xfrm>
            <a:off x="6190488" y="2121408"/>
            <a:ext cx="4937760" cy="3291840"/>
          </a:xfrm>
          <a:prstGeom prst="rect">
            <a:avLst/>
          </a:prstGeom>
          <a:noFill/>
          <a:ln/>
        </p:spPr>
        <p:txBody>
          <a:bodyPr wrap="square" lIns="0" tIns="0" rIns="0" bIns="0" rtlCol="0" anchor="ctr"/>
          <a:lstStyle/>
          <a:p>
            <a:pPr indent="0" marL="0">
              <a:lnSpc>
                <a:spcPct val="125000"/>
              </a:lnSpc>
              <a:spcAft>
                <a:spcPts val="400"/>
              </a:spcAft>
              <a:buNone/>
            </a:pPr>
            <a:r>
              <a:rPr lang="en-US" sz="1250" b="1" dirty="0">
                <a:solidFill>
                  <a:srgbClr val="C2571A"/>
                </a:solidFill>
                <a:latin typeface="Calibri" pitchFamily="34" charset="0"/>
                <a:ea typeface="Calibri" pitchFamily="34" charset="-122"/>
                <a:cs typeface="Calibri" pitchFamily="34" charset="-120"/>
              </a:rPr>
              <a:t>Phải copy item trước khi ghi score</a:t>
            </a:r>
            <a:endParaRPr lang="en-US" sz="1250" dirty="0"/>
          </a:p>
          <a:p>
            <a:pPr indent="0" marL="0">
              <a:lnSpc>
                <a:spcPct val="125000"/>
              </a:lnSpc>
              <a:spcAft>
                <a:spcPts val="400"/>
              </a:spcAft>
              <a:buNone/>
            </a:pPr>
            <a:r>
              <a:rPr lang="en-US" sz="1250" dirty="0">
                <a:solidFill>
                  <a:srgbClr val="1E293B"/>
                </a:solidFill>
                <a:latin typeface="Calibri" pitchFamily="34" charset="0"/>
                <a:ea typeface="Calibri" pitchFamily="34" charset="-122"/>
                <a:cs typeface="Calibri" pitchFamily="34" charset="-120"/>
              </a:rPr>
              <a:t>Task 9 đọc cosine score gốc từ danh sách dense để quyết định fallback. Nếu RRF ghi đè score trực tiếp lên item đầu vào thì 0.6031 bị thay bằng 0.0325.
</a:t>
            </a:r>
            <a:endParaRPr lang="en-US" sz="1250" dirty="0"/>
          </a:p>
          <a:p>
            <a:pPr indent="0" marL="0">
              <a:lnSpc>
                <a:spcPct val="125000"/>
              </a:lnSpc>
              <a:spcAft>
                <a:spcPts val="400"/>
              </a:spcAft>
              <a:buNone/>
            </a:pPr>
            <a:r>
              <a:rPr lang="en-US" sz="1250" b="1" dirty="0">
                <a:solidFill>
                  <a:srgbClr val="C2571A"/>
                </a:solidFill>
                <a:latin typeface="Calibri" pitchFamily="34" charset="0"/>
                <a:ea typeface="Calibri" pitchFamily="34" charset="-122"/>
                <a:cs typeface="Calibri" pitchFamily="34" charset="-120"/>
              </a:rPr>
              <a:t>Hệ quả nếu quên</a:t>
            </a:r>
            <a:endParaRPr lang="en-US" sz="1250" dirty="0"/>
          </a:p>
          <a:p>
            <a:pPr indent="0" marL="0">
              <a:lnSpc>
                <a:spcPct val="125000"/>
              </a:lnSpc>
              <a:spcAft>
                <a:spcPts val="400"/>
              </a:spcAft>
              <a:buNone/>
            </a:pPr>
            <a:r>
              <a:rPr lang="en-US" sz="1250" dirty="0">
                <a:solidFill>
                  <a:srgbClr val="1E293B"/>
                </a:solidFill>
                <a:latin typeface="Calibri" pitchFamily="34" charset="0"/>
                <a:ea typeface="Calibri" pitchFamily="34" charset="-122"/>
                <a:cs typeface="Calibri" pitchFamily="34" charset="-120"/>
              </a:rPr>
              <a:t>RRF score luôn ở mức ~0.03, thấp hơn mọi ngưỡng hợp lý, nên fallback sẽ kích hoạt với mọi truy vấn.
</a:t>
            </a:r>
            <a:endParaRPr lang="en-US" sz="1250" dirty="0"/>
          </a:p>
          <a:p>
            <a:pPr indent="0" marL="0">
              <a:lnSpc>
                <a:spcPct val="125000"/>
              </a:lnSpc>
              <a:spcAft>
                <a:spcPts val="400"/>
              </a:spcAft>
              <a:buNone/>
            </a:pPr>
            <a:r>
              <a:rPr lang="en-US" sz="1250" b="1" dirty="0">
                <a:solidFill>
                  <a:srgbClr val="C2571A"/>
                </a:solidFill>
                <a:latin typeface="Calibri" pitchFamily="34" charset="0"/>
                <a:ea typeface="Calibri" pitchFamily="34" charset="-122"/>
                <a:cs typeface="Calibri" pitchFamily="34" charset="-120"/>
              </a:rPr>
              <a:t>Không test nào bắt được lỗi này</a:t>
            </a:r>
            <a:endParaRPr lang="en-US" sz="1250" dirty="0"/>
          </a:p>
          <a:p>
            <a:pPr indent="0" marL="0">
              <a:lnSpc>
                <a:spcPct val="125000"/>
              </a:lnSpc>
              <a:spcAft>
                <a:spcPts val="400"/>
              </a:spcAft>
              <a:buNone/>
            </a:pPr>
            <a:r>
              <a:rPr lang="en-US" sz="1250" dirty="0">
                <a:solidFill>
                  <a:srgbClr val="1E293B"/>
                </a:solidFill>
                <a:latin typeface="Calibri" pitchFamily="34" charset="0"/>
                <a:ea typeface="Calibri" pitchFamily="34" charset="-122"/>
                <a:cs typeface="Calibri" pitchFamily="34" charset="-120"/>
              </a:rPr>
              <a:t>Nhóm phòng thêm một lớp: đọc best_dense_score trước khi gọi RRF.</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Hiệu chỉnh ngưỡng tin cậy bằng số đo</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11 truy vấn trong và ngoài chủ đề, dùng cosine score gốc của dense</a:t>
            </a:r>
            <a:endParaRPr lang="en-US" sz="1350" dirty="0"/>
          </a:p>
        </p:txBody>
      </p:sp>
      <p:graphicFrame>
        <p:nvGraphicFramePr>
          <p:cNvPr id="6" name="Chart 0" descr=""/>
          <p:cNvGraphicFramePr/>
          <p:nvPr/>
        </p:nvGraphicFramePr>
        <p:xfrm>
          <a:off x="566928" y="1554480"/>
          <a:ext cx="6675120" cy="32004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62088" y="1554480"/>
            <a:ext cx="4032504" cy="1600200"/>
          </a:xfrm>
          <a:prstGeom prst="roundRect">
            <a:avLst>
              <a:gd name="adj" fmla="val 6857"/>
            </a:avLst>
          </a:prstGeom>
          <a:solidFill>
            <a:srgbClr val="DBEAFE"/>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8" name="Text 5"/>
          <p:cNvSpPr txBox="1"/>
          <p:nvPr/>
        </p:nvSpPr>
        <p:spPr>
          <a:xfrm>
            <a:off x="7744968" y="1755648"/>
            <a:ext cx="3666744" cy="658368"/>
          </a:xfrm>
          <a:prstGeom prst="rect">
            <a:avLst/>
          </a:prstGeom>
          <a:noFill/>
          <a:ln/>
        </p:spPr>
        <p:txBody>
          <a:bodyPr wrap="square" lIns="0" tIns="0" rIns="0" bIns="0" rtlCol="0" anchor="ctr"/>
          <a:lstStyle/>
          <a:p>
            <a:pPr algn="ctr" indent="0" marL="0">
              <a:buNone/>
            </a:pPr>
            <a:r>
              <a:rPr lang="en-US" sz="4000" b="1" dirty="0">
                <a:solidFill>
                  <a:srgbClr val="1E3A8A"/>
                </a:solidFill>
                <a:latin typeface="Cambria" pitchFamily="34" charset="0"/>
                <a:ea typeface="Cambria" pitchFamily="34" charset="-122"/>
                <a:cs typeface="Cambria" pitchFamily="34" charset="-120"/>
              </a:rPr>
              <a:t>0.55</a:t>
            </a:r>
            <a:endParaRPr lang="en-US" sz="4000" dirty="0"/>
          </a:p>
        </p:txBody>
      </p:sp>
      <p:sp>
        <p:nvSpPr>
          <p:cNvPr id="9" name="Text 6"/>
          <p:cNvSpPr txBox="1"/>
          <p:nvPr/>
        </p:nvSpPr>
        <p:spPr>
          <a:xfrm>
            <a:off x="7744968" y="2395728"/>
            <a:ext cx="3666744" cy="45720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SCORE_THRESHOLD nhóm chọn</a:t>
            </a:r>
            <a:endParaRPr lang="en-US" sz="1150" dirty="0"/>
          </a:p>
        </p:txBody>
      </p:sp>
      <p:sp>
        <p:nvSpPr>
          <p:cNvPr id="10" name="Shape 7"/>
          <p:cNvSpPr/>
          <p:nvPr/>
        </p:nvSpPr>
        <p:spPr>
          <a:xfrm>
            <a:off x="7562088" y="3291840"/>
            <a:ext cx="4032504" cy="1463040"/>
          </a:xfrm>
          <a:prstGeom prst="roundRect">
            <a:avLst>
              <a:gd name="adj" fmla="val 7500"/>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1" name="Text 8"/>
          <p:cNvSpPr txBox="1"/>
          <p:nvPr/>
        </p:nvSpPr>
        <p:spPr>
          <a:xfrm>
            <a:off x="7836408" y="3438144"/>
            <a:ext cx="3566160" cy="274320"/>
          </a:xfrm>
          <a:prstGeom prst="rect">
            <a:avLst/>
          </a:prstGeom>
          <a:noFill/>
          <a:ln/>
        </p:spPr>
        <p:txBody>
          <a:bodyPr wrap="square" lIns="0" tIns="0" rIns="0" bIns="0" rtlCol="0" anchor="ctr"/>
          <a:lstStyle/>
          <a:p>
            <a:pPr indent="0" marL="0">
              <a:buNone/>
            </a:pPr>
            <a:r>
              <a:rPr lang="en-US" sz="1400" b="1" dirty="0">
                <a:solidFill>
                  <a:srgbClr val="1E3A8A"/>
                </a:solidFill>
                <a:latin typeface="Cambria" pitchFamily="34" charset="0"/>
                <a:ea typeface="Cambria" pitchFamily="34" charset="-122"/>
                <a:cs typeface="Cambria" pitchFamily="34" charset="-120"/>
              </a:rPr>
              <a:t>Khoảng trống tách bạch</a:t>
            </a:r>
            <a:endParaRPr lang="en-US" sz="1400" dirty="0"/>
          </a:p>
        </p:txBody>
      </p:sp>
      <p:sp>
        <p:nvSpPr>
          <p:cNvPr id="12" name="Text 9"/>
          <p:cNvSpPr txBox="1"/>
          <p:nvPr/>
        </p:nvSpPr>
        <p:spPr>
          <a:xfrm>
            <a:off x="7836408" y="3749040"/>
            <a:ext cx="3566160" cy="822960"/>
          </a:xfrm>
          <a:prstGeom prst="rect">
            <a:avLst/>
          </a:prstGeom>
          <a:noFill/>
          <a:ln/>
        </p:spPr>
        <p:txBody>
          <a:bodyPr wrap="square" lIns="0" tIns="0" rIns="0" bIns="0" rtlCol="0" anchor="ctr"/>
          <a:lstStyle/>
          <a:p>
            <a:pPr indent="0" marL="0">
              <a:lnSpc>
                <a:spcPct val="135000"/>
              </a:lnSpc>
              <a:buNone/>
            </a:pPr>
            <a:r>
              <a:rPr lang="en-US" sz="1150" dirty="0">
                <a:solidFill>
                  <a:srgbClr val="1E293B"/>
                </a:solidFill>
                <a:latin typeface="Courier New" pitchFamily="34" charset="0"/>
                <a:ea typeface="Courier New" pitchFamily="34" charset="-122"/>
                <a:cs typeface="Courier New" pitchFamily="34" charset="-120"/>
              </a:rPr>
              <a:t>Trong chủ đề    0.6282 – 0.7391</a:t>
            </a:r>
            <a:endParaRPr lang="en-US" sz="1150" dirty="0"/>
          </a:p>
          <a:p>
            <a:pPr indent="0" marL="0">
              <a:lnSpc>
                <a:spcPct val="135000"/>
              </a:lnSpc>
              <a:buNone/>
            </a:pPr>
            <a:r>
              <a:rPr lang="en-US" sz="1150" dirty="0">
                <a:solidFill>
                  <a:srgbClr val="1E293B"/>
                </a:solidFill>
                <a:latin typeface="Courier New" pitchFamily="34" charset="0"/>
                <a:ea typeface="Courier New" pitchFamily="34" charset="-122"/>
                <a:cs typeface="Courier New" pitchFamily="34" charset="-120"/>
              </a:rPr>
              <a:t>Ngoài chủ đề    0.3432 – 0.4361</a:t>
            </a:r>
            <a:endParaRPr lang="en-US" sz="1150" dirty="0"/>
          </a:p>
        </p:txBody>
      </p:sp>
      <p:sp>
        <p:nvSpPr>
          <p:cNvPr id="13" name="Shape 10"/>
          <p:cNvSpPr/>
          <p:nvPr/>
        </p:nvSpPr>
        <p:spPr>
          <a:xfrm>
            <a:off x="566928" y="4956048"/>
            <a:ext cx="11027664" cy="868680"/>
          </a:xfrm>
          <a:prstGeom prst="roundRect">
            <a:avLst>
              <a:gd name="adj" fmla="val 12632"/>
            </a:avLst>
          </a:prstGeom>
          <a:solidFill>
            <a:srgbClr val="FFF4EC"/>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4" name="Text 11"/>
          <p:cNvSpPr txBox="1"/>
          <p:nvPr/>
        </p:nvSpPr>
        <p:spPr>
          <a:xfrm>
            <a:off x="859536" y="5074920"/>
            <a:ext cx="10442448" cy="640080"/>
          </a:xfrm>
          <a:prstGeom prst="rect">
            <a:avLst/>
          </a:prstGeom>
          <a:noFill/>
          <a:ln/>
        </p:spPr>
        <p:txBody>
          <a:bodyPr wrap="square" lIns="0" tIns="0" rIns="0" bIns="0" rtlCol="0" anchor="ctr"/>
          <a:lstStyle/>
          <a:p>
            <a:pPr indent="0" marL="0">
              <a:lnSpc>
                <a:spcPct val="120000"/>
              </a:lnSpc>
              <a:buNone/>
            </a:pPr>
            <a:r>
              <a:rPr lang="en-US" sz="1300" b="1" dirty="0">
                <a:solidFill>
                  <a:srgbClr val="C2571A"/>
                </a:solidFill>
                <a:latin typeface="Calibri" pitchFamily="34" charset="0"/>
                <a:ea typeface="Calibri" pitchFamily="34" charset="-122"/>
                <a:cs typeface="Calibri" pitchFamily="34" charset="-120"/>
              </a:rPr>
              <a:t>Giá trị mặc định 0.3 của starter không dùng được:  </a:t>
            </a:r>
            <a:pPr indent="0" marL="0">
              <a:lnSpc>
                <a:spcPct val="120000"/>
              </a:lnSpc>
              <a:buNone/>
            </a:pPr>
            <a:r>
              <a:rPr lang="en-US" sz="1300" dirty="0">
                <a:solidFill>
                  <a:srgbClr val="1E293B"/>
                </a:solidFill>
                <a:latin typeface="Calibri" pitchFamily="34" charset="0"/>
                <a:ea typeface="Calibri" pitchFamily="34" charset="-122"/>
                <a:cs typeface="Calibri" pitchFamily="34" charset="-120"/>
              </a:rPr>
              <a:t>nó thấp hơn cả truy vấn ngoài chủ đề tệ nhất (0.3432), nên fallback sẽ không bao giờ kích hoạt.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Sinh câu trả lời có trích dẫn</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Chốt chặn cuối: thà từ chối còn hơn trả lời phỏng đoán</a:t>
            </a:r>
            <a:endParaRPr lang="en-US" sz="1350" dirty="0"/>
          </a:p>
        </p:txBody>
      </p:sp>
      <p:sp>
        <p:nvSpPr>
          <p:cNvPr id="6" name="Shape 4"/>
          <p:cNvSpPr/>
          <p:nvPr/>
        </p:nvSpPr>
        <p:spPr>
          <a:xfrm>
            <a:off x="566928" y="1536192"/>
            <a:ext cx="3547872" cy="2286000"/>
          </a:xfrm>
          <a:prstGeom prst="roundRect">
            <a:avLst>
              <a:gd name="adj" fmla="val 4800"/>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7" name="Text 5"/>
          <p:cNvSpPr txBox="1"/>
          <p:nvPr/>
        </p:nvSpPr>
        <p:spPr>
          <a:xfrm>
            <a:off x="822960" y="1719072"/>
            <a:ext cx="3035808" cy="548640"/>
          </a:xfrm>
          <a:prstGeom prst="rect">
            <a:avLst/>
          </a:prstGeom>
          <a:noFill/>
          <a:ln/>
        </p:spPr>
        <p:txBody>
          <a:bodyPr wrap="square" lIns="0" tIns="0" rIns="0" bIns="0" rtlCol="0" anchor="ctr"/>
          <a:lstStyle/>
          <a:p>
            <a:pPr indent="0" marL="0">
              <a:buNone/>
            </a:pPr>
            <a:r>
              <a:rPr lang="en-US" sz="1550" b="1" dirty="0">
                <a:solidFill>
                  <a:srgbClr val="1E3A8A"/>
                </a:solidFill>
                <a:latin typeface="Cambria" pitchFamily="34" charset="0"/>
                <a:ea typeface="Cambria" pitchFamily="34" charset="-122"/>
                <a:cs typeface="Cambria" pitchFamily="34" charset="-120"/>
              </a:rPr>
              <a:t>Chống lost-in-the-middle</a:t>
            </a:r>
            <a:endParaRPr lang="en-US" sz="1550" dirty="0"/>
          </a:p>
        </p:txBody>
      </p:sp>
      <p:sp>
        <p:nvSpPr>
          <p:cNvPr id="8" name="Text 6"/>
          <p:cNvSpPr txBox="1"/>
          <p:nvPr/>
        </p:nvSpPr>
        <p:spPr>
          <a:xfrm>
            <a:off x="822960" y="2304288"/>
            <a:ext cx="3035808" cy="1371600"/>
          </a:xfrm>
          <a:prstGeom prst="rect">
            <a:avLst/>
          </a:prstGeom>
          <a:noFill/>
          <a:ln/>
        </p:spPr>
        <p:txBody>
          <a:bodyPr wrap="square" lIns="0" tIns="0" rIns="0" bIns="0" rtlCol="0" anchor="ctr"/>
          <a:lstStyle/>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LLM nhớ rõ đầu và cuối context, bỏ sót phần giữa. reorder_for_llm() xếp xen kẽ: [0,1,2,3,4] → [0,2,4,3,1]. Chunk mạnh nhất ở đầu, mạnh nhì ở cuối.</a:t>
            </a:r>
            <a:endParaRPr lang="en-US" sz="1200" dirty="0"/>
          </a:p>
        </p:txBody>
      </p:sp>
      <p:sp>
        <p:nvSpPr>
          <p:cNvPr id="9" name="Shape 7"/>
          <p:cNvSpPr/>
          <p:nvPr/>
        </p:nvSpPr>
        <p:spPr>
          <a:xfrm>
            <a:off x="4334256" y="1536192"/>
            <a:ext cx="3547872" cy="2286000"/>
          </a:xfrm>
          <a:prstGeom prst="roundRect">
            <a:avLst>
              <a:gd name="adj" fmla="val 4800"/>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0" name="Text 8"/>
          <p:cNvSpPr txBox="1"/>
          <p:nvPr/>
        </p:nvSpPr>
        <p:spPr>
          <a:xfrm>
            <a:off x="4590288" y="1719072"/>
            <a:ext cx="3035808" cy="548640"/>
          </a:xfrm>
          <a:prstGeom prst="rect">
            <a:avLst/>
          </a:prstGeom>
          <a:noFill/>
          <a:ln/>
        </p:spPr>
        <p:txBody>
          <a:bodyPr wrap="square" lIns="0" tIns="0" rIns="0" bIns="0" rtlCol="0" anchor="ctr"/>
          <a:lstStyle/>
          <a:p>
            <a:pPr indent="0" marL="0">
              <a:buNone/>
            </a:pPr>
            <a:r>
              <a:rPr lang="en-US" sz="1550" b="1" dirty="0">
                <a:solidFill>
                  <a:srgbClr val="1E3A8A"/>
                </a:solidFill>
                <a:latin typeface="Cambria" pitchFamily="34" charset="0"/>
                <a:ea typeface="Cambria" pitchFamily="34" charset="-122"/>
                <a:cs typeface="Cambria" pitchFamily="34" charset="-120"/>
              </a:rPr>
              <a:t>Citation kiểm chứng được</a:t>
            </a:r>
            <a:endParaRPr lang="en-US" sz="1550" dirty="0"/>
          </a:p>
        </p:txBody>
      </p:sp>
      <p:sp>
        <p:nvSpPr>
          <p:cNvPr id="11" name="Text 9"/>
          <p:cNvSpPr txBox="1"/>
          <p:nvPr/>
        </p:nvSpPr>
        <p:spPr>
          <a:xfrm>
            <a:off x="4590288" y="2304288"/>
            <a:ext cx="3035808" cy="1371600"/>
          </a:xfrm>
          <a:prstGeom prst="rect">
            <a:avLst/>
          </a:prstGeom>
          <a:noFill/>
          <a:ln/>
        </p:spPr>
        <p:txBody>
          <a:bodyPr wrap="square" lIns="0" tIns="0" rIns="0" bIns="0" rtlCol="0" anchor="ctr"/>
          <a:lstStyle/>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Mỗi đoạn context mang nhãn Title và Source. Người đọc thấy số hiệu văn bản, tra ngược được file gốc và URL công khai.</a:t>
            </a:r>
            <a:endParaRPr lang="en-US" sz="1200" dirty="0"/>
          </a:p>
        </p:txBody>
      </p:sp>
      <p:sp>
        <p:nvSpPr>
          <p:cNvPr id="12" name="Shape 10"/>
          <p:cNvSpPr/>
          <p:nvPr/>
        </p:nvSpPr>
        <p:spPr>
          <a:xfrm>
            <a:off x="8101584" y="1536192"/>
            <a:ext cx="3547872" cy="2286000"/>
          </a:xfrm>
          <a:prstGeom prst="roundRect">
            <a:avLst>
              <a:gd name="adj" fmla="val 4800"/>
            </a:avLst>
          </a:prstGeom>
          <a:solidFill>
            <a:srgbClr val="FFF4EC"/>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3" name="Text 11"/>
          <p:cNvSpPr txBox="1"/>
          <p:nvPr/>
        </p:nvSpPr>
        <p:spPr>
          <a:xfrm>
            <a:off x="8357616" y="1719072"/>
            <a:ext cx="3035808" cy="548640"/>
          </a:xfrm>
          <a:prstGeom prst="rect">
            <a:avLst/>
          </a:prstGeom>
          <a:noFill/>
          <a:ln/>
        </p:spPr>
        <p:txBody>
          <a:bodyPr wrap="square" lIns="0" tIns="0" rIns="0" bIns="0" rtlCol="0" anchor="ctr"/>
          <a:lstStyle/>
          <a:p>
            <a:pPr indent="0" marL="0">
              <a:buNone/>
            </a:pPr>
            <a:r>
              <a:rPr lang="en-US" sz="1550" b="1" dirty="0">
                <a:solidFill>
                  <a:srgbClr val="C2571A"/>
                </a:solidFill>
                <a:latin typeface="Cambria" pitchFamily="34" charset="0"/>
                <a:ea typeface="Cambria" pitchFamily="34" charset="-122"/>
                <a:cs typeface="Cambria" pitchFamily="34" charset="-120"/>
              </a:rPr>
              <a:t>Safe refusal</a:t>
            </a:r>
            <a:endParaRPr lang="en-US" sz="1550" dirty="0"/>
          </a:p>
        </p:txBody>
      </p:sp>
      <p:sp>
        <p:nvSpPr>
          <p:cNvPr id="14" name="Text 12"/>
          <p:cNvSpPr txBox="1"/>
          <p:nvPr/>
        </p:nvSpPr>
        <p:spPr>
          <a:xfrm>
            <a:off x="8357616" y="2304288"/>
            <a:ext cx="3035808" cy="1371600"/>
          </a:xfrm>
          <a:prstGeom prst="rect">
            <a:avLst/>
          </a:prstGeom>
          <a:noFill/>
          <a:ln/>
        </p:spPr>
        <p:txBody>
          <a:bodyPr wrap="square" lIns="0" tIns="0" rIns="0" bIns="0" rtlCol="0" anchor="ctr"/>
          <a:lstStyle/>
          <a:p>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Ba đường dẫn tới từ chối: retrieve rỗng, LLM báo thiếu evidence, hoặc provider lỗi. Khi từ chối thì sources = [] — không đính kèm nguồn không liên quan.</a:t>
            </a:r>
            <a:endParaRPr lang="en-US" sz="1200" dirty="0"/>
          </a:p>
        </p:txBody>
      </p:sp>
      <p:sp>
        <p:nvSpPr>
          <p:cNvPr id="15" name="Shape 13"/>
          <p:cNvSpPr/>
          <p:nvPr/>
        </p:nvSpPr>
        <p:spPr>
          <a:xfrm>
            <a:off x="566928" y="4041648"/>
            <a:ext cx="11027664" cy="1783080"/>
          </a:xfrm>
          <a:prstGeom prst="roundRect">
            <a:avLst>
              <a:gd name="adj" fmla="val 6154"/>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6" name="Text 14"/>
          <p:cNvSpPr txBox="1"/>
          <p:nvPr/>
        </p:nvSpPr>
        <p:spPr>
          <a:xfrm>
            <a:off x="859536" y="4206240"/>
            <a:ext cx="7315200" cy="310896"/>
          </a:xfrm>
          <a:prstGeom prst="rect">
            <a:avLst/>
          </a:prstGeom>
          <a:noFill/>
          <a:ln/>
        </p:spPr>
        <p:txBody>
          <a:bodyPr wrap="square" lIns="0" tIns="0" rIns="0" bIns="0" rtlCol="0" anchor="ctr"/>
          <a:lstStyle/>
          <a:p>
            <a:pPr indent="0" marL="0">
              <a:buNone/>
            </a:pPr>
            <a:r>
              <a:rPr lang="en-US" sz="1500" b="1" dirty="0">
                <a:solidFill>
                  <a:srgbClr val="1E3A8A"/>
                </a:solidFill>
                <a:latin typeface="Cambria" pitchFamily="34" charset="0"/>
                <a:ea typeface="Cambria" pitchFamily="34" charset="-122"/>
                <a:cs typeface="Cambria" pitchFamily="34" charset="-120"/>
              </a:rPr>
              <a:t>Vì sao tầng này bắt buộc phải tự từ chối được</a:t>
            </a:r>
            <a:endParaRPr lang="en-US" sz="1500" dirty="0"/>
          </a:p>
        </p:txBody>
      </p:sp>
      <p:sp>
        <p:nvSpPr>
          <p:cNvPr id="17" name="Text 15"/>
          <p:cNvSpPr txBox="1"/>
          <p:nvPr/>
        </p:nvSpPr>
        <p:spPr>
          <a:xfrm>
            <a:off x="859536" y="4553712"/>
            <a:ext cx="10442448" cy="114300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Nhóm đã đo: vectorless fallback KHÔNG phân biệt được truy vấn trong hay ngoài chủ đề — điểm thô của hai nhóm chồng lên nhau (17.76–46.85 so với 8.26–18.69). Câu "Cách nấu phở bò" vẫn nhận về Điều 24 Cách quản lý điểm vì khớp chữ "cách". Nhóm đã cân nhắc thêm ngưỡng cho fallback nhưng không có giá trị nào tách được hai nhóm, nên không thêm.</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Một lỗi im lặng ở giao diện</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sources sắp theo score, context lại sắp theo thứ tự chống lost-in-the-middle</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6035040" cy="914400"/>
        </p:xfrm>
        <a:graphic>
          <a:graphicData uri="http://schemas.openxmlformats.org/drawingml/2006/table">
            <a:tbl>
              <a:tblPr/>
              <a:tblGrid>
                <a:gridCol w="2194560"/>
                <a:gridCol w="1920240"/>
                <a:gridCol w="1920240"/>
              </a:tblGrid>
              <a:tr h="320040">
                <a:tc>
                  <a:txBody>
                    <a:bodyPr/>
                    <a:lstStyle/>
                    <a:p>
                      <a:pPr algn="ctr" indent="0" marL="0">
                        <a:buNone/>
                      </a:pPr>
                      <a:r>
                        <a:rPr lang="en-US" sz="1250" b="1" dirty="0">
                          <a:solidFill>
                            <a:srgbClr val="1E293B"/>
                          </a:solidFill>
                          <a:latin typeface="Calibri" pitchFamily="34" charset="0"/>
                          <a:ea typeface="Calibri" pitchFamily="34" charset="-122"/>
                          <a:cs typeface="Calibri" pitchFamily="34" charset="-120"/>
                        </a:rPr>
                        <a:t>Nhãn trong câu trả lời</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293B"/>
                          </a:solidFill>
                          <a:latin typeface="Calibri" pitchFamily="34" charset="0"/>
                          <a:ea typeface="Calibri" pitchFamily="34" charset="-122"/>
                          <a:cs typeface="Calibri" pitchFamily="34" charset="-120"/>
                        </a:rPr>
                        <a:t>Nếu lấy sources[N−1]</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293B"/>
                          </a:solidFill>
                          <a:latin typeface="Calibri" pitchFamily="34" charset="0"/>
                          <a:ea typeface="Calibri" pitchFamily="34" charset="-122"/>
                          <a:cs typeface="Calibri" pitchFamily="34" charset="-120"/>
                        </a:rPr>
                        <a:t>Nguồn thực tế</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r h="320040">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[Document 1]</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chunk-0</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chunk-0</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r h="320040">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[Document 2]</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chunk-1</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2571A"/>
                          </a:solidFill>
                          <a:latin typeface="Calibri" pitchFamily="34" charset="0"/>
                          <a:ea typeface="Calibri" pitchFamily="34" charset="-122"/>
                          <a:cs typeface="Calibri" pitchFamily="34" charset="-120"/>
                        </a:rPr>
                        <a:t>chunk-2</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r h="320040">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[Document 3]</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chunk-2</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2571A"/>
                          </a:solidFill>
                          <a:latin typeface="Calibri" pitchFamily="34" charset="0"/>
                          <a:ea typeface="Calibri" pitchFamily="34" charset="-122"/>
                          <a:cs typeface="Calibri" pitchFamily="34" charset="-120"/>
                        </a:rPr>
                        <a:t>chunk-4</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r h="320040">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[Document 4]</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chunk-3</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chunk-3</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r h="320040">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[Document 5]</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293B"/>
                          </a:solidFill>
                          <a:latin typeface="Calibri" pitchFamily="34" charset="0"/>
                          <a:ea typeface="Calibri" pitchFamily="34" charset="-122"/>
                          <a:cs typeface="Calibri" pitchFamily="34" charset="-120"/>
                        </a:rPr>
                        <a:t>chunk-4</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C2571A"/>
                          </a:solidFill>
                          <a:latin typeface="Calibri" pitchFamily="34" charset="0"/>
                          <a:ea typeface="Calibri" pitchFamily="34" charset="-122"/>
                          <a:cs typeface="Calibri" pitchFamily="34" charset="-120"/>
                        </a:rPr>
                        <a:t>chunk-1</a:t>
                      </a:r>
                      <a:endParaRPr lang="en-US" sz="1250" dirty="0">
                        <a:latin typeface="Calibri" charset="0"/>
                        <a:ea typeface="Calibri" charset="0"/>
                        <a:cs typeface="Calibri" charset="0"/>
                      </a:endParaRPr>
                    </a:p>
                  </a:txBody>
                  <a:tcPr marL="91440" marR="91440" marT="45720" marB="45720" anchor="ctr">
                    <a:lnL w="12700" cap="flat" cmpd="sng" algn="ctr">
                      <a:solidFill>
                        <a:srgbClr val="DCE6F5"/>
                      </a:solidFill>
                      <a:prstDash val="solid"/>
                      <a:round/>
                      <a:headEnd type="none" w="med" len="med"/>
                      <a:tailEnd type="none" w="med" len="med"/>
                    </a:lnL>
                    <a:lnR w="12700" cap="flat" cmpd="sng" algn="ctr">
                      <a:solidFill>
                        <a:srgbClr val="DCE6F5"/>
                      </a:solidFill>
                      <a:prstDash val="solid"/>
                      <a:round/>
                      <a:headEnd type="none" w="med" len="med"/>
                      <a:tailEnd type="none" w="med" len="med"/>
                    </a:lnR>
                    <a:lnT w="12700" cap="flat" cmpd="sng" algn="ctr">
                      <a:solidFill>
                        <a:srgbClr val="DCE6F5"/>
                      </a:solidFill>
                      <a:prstDash val="solid"/>
                      <a:round/>
                      <a:headEnd type="none" w="med" len="med"/>
                      <a:tailEnd type="none" w="med" len="med"/>
                    </a:lnT>
                    <a:lnB w="12700" cap="flat" cmpd="sng" algn="ctr">
                      <a:solidFill>
                        <a:srgbClr val="DCE6F5"/>
                      </a:solidFill>
                      <a:prstDash val="solid"/>
                      <a:round/>
                      <a:headEnd type="none" w="med" len="med"/>
                      <a:tailEnd type="none" w="med" len="med"/>
                    </a:lnB>
                    <a:solidFill>
                      <a:srgbClr val="FFFFFF"/>
                    </a:solidFill>
                  </a:tcPr>
                </a:tc>
              </a:tr>
            </a:tbl>
          </a:graphicData>
        </a:graphic>
      </p:graphicFrame>
      <p:sp>
        <p:nvSpPr>
          <p:cNvPr id="7" name="Shape 4"/>
          <p:cNvSpPr/>
          <p:nvPr/>
        </p:nvSpPr>
        <p:spPr>
          <a:xfrm>
            <a:off x="6922008" y="1572768"/>
            <a:ext cx="4672584" cy="2011680"/>
          </a:xfrm>
          <a:prstGeom prst="roundRect">
            <a:avLst>
              <a:gd name="adj" fmla="val 5455"/>
            </a:avLst>
          </a:prstGeom>
          <a:solidFill>
            <a:srgbClr val="FFF1E8"/>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8" name="Text 5"/>
          <p:cNvSpPr txBox="1"/>
          <p:nvPr/>
        </p:nvSpPr>
        <p:spPr>
          <a:xfrm>
            <a:off x="7104888" y="1783080"/>
            <a:ext cx="4306824" cy="658368"/>
          </a:xfrm>
          <a:prstGeom prst="rect">
            <a:avLst/>
          </a:prstGeom>
          <a:noFill/>
          <a:ln/>
        </p:spPr>
        <p:txBody>
          <a:bodyPr wrap="square" lIns="0" tIns="0" rIns="0" bIns="0" rtlCol="0" anchor="ctr"/>
          <a:lstStyle/>
          <a:p>
            <a:pPr algn="ctr" indent="0" marL="0">
              <a:buNone/>
            </a:pPr>
            <a:r>
              <a:rPr lang="en-US" sz="4000" b="1" dirty="0">
                <a:solidFill>
                  <a:srgbClr val="C2571A"/>
                </a:solidFill>
                <a:latin typeface="Cambria" pitchFamily="34" charset="0"/>
                <a:ea typeface="Cambria" pitchFamily="34" charset="-122"/>
                <a:cs typeface="Cambria" pitchFamily="34" charset="-120"/>
              </a:rPr>
              <a:t>3/5</a:t>
            </a:r>
            <a:endParaRPr lang="en-US" sz="4000" dirty="0"/>
          </a:p>
        </p:txBody>
      </p:sp>
      <p:sp>
        <p:nvSpPr>
          <p:cNvPr id="9" name="Text 6"/>
          <p:cNvSpPr txBox="1"/>
          <p:nvPr/>
        </p:nvSpPr>
        <p:spPr>
          <a:xfrm>
            <a:off x="7104888" y="2423160"/>
            <a:ext cx="4306824" cy="457200"/>
          </a:xfrm>
          <a:prstGeom prst="rect">
            <a:avLst/>
          </a:prstGeom>
          <a:noFill/>
          <a:ln/>
        </p:spPr>
        <p:txBody>
          <a:bodyPr wrap="square" lIns="0" tIns="0" rIns="0" bIns="0" rtlCol="0" anchor="ctr"/>
          <a:lstStyle/>
          <a:p>
            <a:pPr algn="ctr" indent="0" marL="0">
              <a:buNone/>
            </a:pPr>
            <a:r>
              <a:rPr lang="en-US" sz="1150" dirty="0">
                <a:solidFill>
                  <a:srgbClr val="64748B"/>
                </a:solidFill>
                <a:latin typeface="Calibri" pitchFamily="34" charset="0"/>
                <a:ea typeface="Calibri" pitchFamily="34" charset="-122"/>
                <a:cs typeface="Calibri" pitchFamily="34" charset="-120"/>
              </a:rPr>
              <a:t>citation trỏ sai nguồn</a:t>
            </a:r>
            <a:endParaRPr lang="en-US" sz="1150" dirty="0"/>
          </a:p>
        </p:txBody>
      </p:sp>
      <p:sp>
        <p:nvSpPr>
          <p:cNvPr id="10" name="Text 7"/>
          <p:cNvSpPr txBox="1"/>
          <p:nvPr/>
        </p:nvSpPr>
        <p:spPr>
          <a:xfrm>
            <a:off x="7196328" y="2852928"/>
            <a:ext cx="4123944" cy="640080"/>
          </a:xfrm>
          <a:prstGeom prst="rect">
            <a:avLst/>
          </a:prstGeom>
          <a:noFill/>
          <a:ln/>
        </p:spPr>
        <p:txBody>
          <a:bodyPr wrap="square" lIns="0" tIns="0" rIns="0" bIns="0" rtlCol="0" anchor="ctr"/>
          <a:lstStyle/>
          <a:p>
            <a:pPr indent="0" marL="0">
              <a:lnSpc>
                <a:spcPct val="120000"/>
              </a:lnSpc>
              <a:buNone/>
            </a:pPr>
            <a:r>
              <a:rPr lang="en-US" sz="1200" dirty="0">
                <a:solidFill>
                  <a:srgbClr val="1E293B"/>
                </a:solidFill>
                <a:latin typeface="Calibri" pitchFamily="34" charset="0"/>
                <a:ea typeface="Calibri" pitchFamily="34" charset="-122"/>
                <a:cs typeface="Calibri" pitchFamily="34" charset="-120"/>
              </a:rPr>
              <a:t>Giao diện vẫn chạy, vẫn hiện nguồn — chỉ là nguồn sai. Đúng loại lỗi người chấm khó phát hiện.</a:t>
            </a:r>
            <a:endParaRPr lang="en-US" sz="1200" dirty="0"/>
          </a:p>
        </p:txBody>
      </p:sp>
      <p:sp>
        <p:nvSpPr>
          <p:cNvPr id="11" name="Shape 8"/>
          <p:cNvSpPr/>
          <p:nvPr/>
        </p:nvSpPr>
        <p:spPr>
          <a:xfrm>
            <a:off x="6922008" y="3749040"/>
            <a:ext cx="4672584" cy="1417320"/>
          </a:xfrm>
          <a:prstGeom prst="roundRect">
            <a:avLst>
              <a:gd name="adj" fmla="val 7742"/>
            </a:avLst>
          </a:prstGeom>
          <a:solidFill>
            <a:srgbClr val="DBEAFE"/>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2" name="Text 9"/>
          <p:cNvSpPr txBox="1"/>
          <p:nvPr/>
        </p:nvSpPr>
        <p:spPr>
          <a:xfrm>
            <a:off x="7196328" y="3895344"/>
            <a:ext cx="4114800" cy="274320"/>
          </a:xfrm>
          <a:prstGeom prst="rect">
            <a:avLst/>
          </a:prstGeom>
          <a:noFill/>
          <a:ln/>
        </p:spPr>
        <p:txBody>
          <a:bodyPr wrap="square" lIns="0" tIns="0" rIns="0" bIns="0" rtlCol="0" anchor="ctr"/>
          <a:lstStyle/>
          <a:p>
            <a:pPr indent="0" marL="0">
              <a:buNone/>
            </a:pPr>
            <a:r>
              <a:rPr lang="en-US" sz="1400" b="1" dirty="0">
                <a:solidFill>
                  <a:srgbClr val="1E3A8A"/>
                </a:solidFill>
                <a:latin typeface="Cambria" pitchFamily="34" charset="0"/>
                <a:ea typeface="Cambria" pitchFamily="34" charset="-122"/>
                <a:cs typeface="Cambria" pitchFamily="34" charset="-120"/>
              </a:rPr>
              <a:t>Cách khắc phục</a:t>
            </a:r>
            <a:endParaRPr lang="en-US" sz="1400" dirty="0"/>
          </a:p>
        </p:txBody>
      </p:sp>
      <p:sp>
        <p:nvSpPr>
          <p:cNvPr id="13" name="Text 10"/>
          <p:cNvSpPr txBox="1"/>
          <p:nvPr/>
        </p:nvSpPr>
        <p:spPr>
          <a:xfrm>
            <a:off x="7196328" y="4206240"/>
            <a:ext cx="4123944" cy="822960"/>
          </a:xfrm>
          <a:prstGeom prst="rect">
            <a:avLst/>
          </a:prstGeom>
          <a:noFill/>
          <a:ln/>
        </p:spPr>
        <p:txBody>
          <a:bodyPr wrap="square" lIns="0" tIns="0" rIns="0" bIns="0" rtlCol="0" anchor="ctr"/>
          <a:lstStyle/>
          <a:p>
            <a:pPr indent="0" marL="0">
              <a:lnSpc>
                <a:spcPct val="120000"/>
              </a:lnSpc>
              <a:buNone/>
            </a:pPr>
            <a:r>
              <a:rPr lang="en-US" sz="1200" dirty="0">
                <a:solidFill>
                  <a:srgbClr val="1E293B"/>
                </a:solidFill>
                <a:latin typeface="Calibri" pitchFamily="34" charset="0"/>
                <a:ea typeface="Calibri" pitchFamily="34" charset="-122"/>
                <a:cs typeface="Calibri" pitchFamily="34" charset="-120"/>
              </a:rPr>
              <a:t>citation_numbers() dựng lại đúng thứ tự context rồi gắn số Document tương ứng vào từng nguồn hiển thị.</a:t>
            </a:r>
            <a:endParaRPr lang="en-US" sz="1200" dirty="0"/>
          </a:p>
        </p:txBody>
      </p:sp>
      <p:sp>
        <p:nvSpPr>
          <p:cNvPr id="14" name="Shape 11"/>
          <p:cNvSpPr/>
          <p:nvPr/>
        </p:nvSpPr>
        <p:spPr>
          <a:xfrm>
            <a:off x="566928" y="4206240"/>
            <a:ext cx="6035040" cy="1600200"/>
          </a:xfrm>
          <a:prstGeom prst="roundRect">
            <a:avLst>
              <a:gd name="adj" fmla="val 6857"/>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5" name="Text 12"/>
          <p:cNvSpPr txBox="1"/>
          <p:nvPr/>
        </p:nvSpPr>
        <p:spPr>
          <a:xfrm>
            <a:off x="841248" y="4352544"/>
            <a:ext cx="5486400" cy="292608"/>
          </a:xfrm>
          <a:prstGeom prst="rect">
            <a:avLst/>
          </a:prstGeom>
          <a:noFill/>
          <a:ln/>
        </p:spPr>
        <p:txBody>
          <a:bodyPr wrap="square" lIns="0" tIns="0" rIns="0" bIns="0" rtlCol="0" anchor="ctr"/>
          <a:lstStyle/>
          <a:p>
            <a:pPr indent="0" marL="0">
              <a:buNone/>
            </a:pPr>
            <a:r>
              <a:rPr lang="en-US" sz="1400" b="1" dirty="0">
                <a:solidFill>
                  <a:srgbClr val="1E3A8A"/>
                </a:solidFill>
                <a:latin typeface="Cambria" pitchFamily="34" charset="0"/>
                <a:ea typeface="Cambria" pitchFamily="34" charset="-122"/>
                <a:cs typeface="Cambria" pitchFamily="34" charset="-120"/>
              </a:rPr>
              <a:t>Bằng chứng cơ chế hoạt động</a:t>
            </a:r>
            <a:endParaRPr lang="en-US" sz="1400" dirty="0"/>
          </a:p>
        </p:txBody>
      </p:sp>
      <p:sp>
        <p:nvSpPr>
          <p:cNvPr id="16" name="Text 13"/>
          <p:cNvSpPr txBox="1"/>
          <p:nvPr/>
        </p:nvSpPr>
        <p:spPr>
          <a:xfrm>
            <a:off x="841248" y="4681728"/>
            <a:ext cx="5486400" cy="914400"/>
          </a:xfrm>
          <a:prstGeom prst="rect">
            <a:avLst/>
          </a:prstGeom>
          <a:noFill/>
          <a:ln/>
        </p:spPr>
        <p:txBody>
          <a:bodyPr wrap="square" lIns="0" tIns="0" rIns="0" bIns="0" rtlCol="0" anchor="ctr"/>
          <a:lstStyle/>
          <a:p>
            <a:pPr indent="0" marL="0">
              <a:lnSpc>
                <a:spcPct val="120000"/>
              </a:lnSpc>
              <a:buNone/>
            </a:pPr>
            <a:r>
              <a:rPr lang="en-US" sz="1250" dirty="0">
                <a:solidFill>
                  <a:srgbClr val="1E293B"/>
                </a:solidFill>
                <a:latin typeface="Calibri" pitchFamily="34" charset="0"/>
                <a:ea typeface="Calibri" pitchFamily="34" charset="-122"/>
                <a:cs typeface="Calibri" pitchFamily="34" charset="-120"/>
              </a:rPr>
              <a:t>Thứ tự nhãn hiển thị trên giao diện là 1, 5, 2, 4, 3 — không liên tục. Đó chính là dấu hiệu ánh xạ đã được áp dụng đúng.</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Đánh giá A/B trên 15 golden case</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Chỉ đổi retrieval strategy, mọi yếu tố khác giữ nguyên</a:t>
            </a:r>
            <a:endParaRPr lang="en-US" sz="1350" dirty="0"/>
          </a:p>
        </p:txBody>
      </p:sp>
      <p:graphicFrame>
        <p:nvGraphicFramePr>
          <p:cNvPr id="6" name="Chart 0" descr=""/>
          <p:cNvGraphicFramePr/>
          <p:nvPr/>
        </p:nvGraphicFramePr>
        <p:xfrm>
          <a:off x="566928" y="1554480"/>
          <a:ext cx="7040880" cy="31546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927848" y="1554480"/>
            <a:ext cx="3666744" cy="1600200"/>
          </a:xfrm>
          <a:prstGeom prst="roundRect">
            <a:avLst>
              <a:gd name="adj" fmla="val 6857"/>
            </a:avLst>
          </a:prstGeom>
          <a:solidFill>
            <a:srgbClr val="DBEAFE"/>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8" name="Text 5"/>
          <p:cNvSpPr txBox="1"/>
          <p:nvPr/>
        </p:nvSpPr>
        <p:spPr>
          <a:xfrm>
            <a:off x="8110728" y="1719072"/>
            <a:ext cx="3383280" cy="365760"/>
          </a:xfrm>
          <a:prstGeom prst="rect">
            <a:avLst/>
          </a:prstGeom>
          <a:noFill/>
          <a:ln/>
        </p:spPr>
        <p:txBody>
          <a:bodyPr wrap="square" lIns="0" tIns="0" rIns="0" bIns="0" rtlCol="0" anchor="ctr"/>
          <a:lstStyle/>
          <a:p>
            <a:pPr indent="0" marL="0">
              <a:buNone/>
            </a:pPr>
            <a:r>
              <a:rPr lang="en-US" sz="1900" b="1" dirty="0">
                <a:solidFill>
                  <a:srgbClr val="1E3A8A"/>
                </a:solidFill>
                <a:latin typeface="Cambria" pitchFamily="34" charset="0"/>
                <a:ea typeface="Cambria" pitchFamily="34" charset="-122"/>
                <a:cs typeface="Cambria" pitchFamily="34" charset="-120"/>
              </a:rPr>
              <a:t>Config A thắng</a:t>
            </a:r>
            <a:endParaRPr lang="en-US" sz="1900" dirty="0"/>
          </a:p>
        </p:txBody>
      </p:sp>
      <p:sp>
        <p:nvSpPr>
          <p:cNvPr id="9" name="Text 6"/>
          <p:cNvSpPr txBox="1"/>
          <p:nvPr/>
        </p:nvSpPr>
        <p:spPr>
          <a:xfrm>
            <a:off x="8110728" y="2121408"/>
            <a:ext cx="3383280" cy="822960"/>
          </a:xfrm>
          <a:prstGeom prst="rect">
            <a:avLst/>
          </a:prstGeom>
          <a:noFill/>
          <a:ln/>
        </p:spPr>
        <p:txBody>
          <a:bodyPr wrap="square" lIns="0" tIns="0" rIns="0" bIns="0" rtlCol="0" anchor="ctr"/>
          <a:lstStyle/>
          <a:p>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cả bốn metric</a:t>
            </a:r>
            <a:endParaRPr lang="en-US" sz="1250" dirty="0"/>
          </a:p>
          <a:p>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average  0.8178  so với  0.7961</a:t>
            </a:r>
            <a:endParaRPr lang="en-US" sz="1250" dirty="0"/>
          </a:p>
        </p:txBody>
      </p:sp>
      <p:sp>
        <p:nvSpPr>
          <p:cNvPr id="10" name="Shape 7"/>
          <p:cNvSpPr/>
          <p:nvPr/>
        </p:nvSpPr>
        <p:spPr>
          <a:xfrm>
            <a:off x="7927848" y="3291840"/>
            <a:ext cx="3666744" cy="1417320"/>
          </a:xfrm>
          <a:prstGeom prst="roundRect">
            <a:avLst>
              <a:gd name="adj" fmla="val 7742"/>
            </a:avLst>
          </a:prstGeom>
          <a:solidFill>
            <a:srgbClr val="FFFF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1" name="Text 8"/>
          <p:cNvSpPr txBox="1"/>
          <p:nvPr/>
        </p:nvSpPr>
        <p:spPr>
          <a:xfrm>
            <a:off x="8110728" y="3438144"/>
            <a:ext cx="3383280" cy="274320"/>
          </a:xfrm>
          <a:prstGeom prst="rect">
            <a:avLst/>
          </a:prstGeom>
          <a:noFill/>
          <a:ln/>
        </p:spPr>
        <p:txBody>
          <a:bodyPr wrap="square" lIns="0" tIns="0" rIns="0" bIns="0" rtlCol="0" anchor="ctr"/>
          <a:lstStyle/>
          <a:p>
            <a:pPr indent="0" marL="0">
              <a:buNone/>
            </a:pPr>
            <a:r>
              <a:rPr lang="en-US" sz="1400" b="1" dirty="0">
                <a:solidFill>
                  <a:srgbClr val="1E3A8A"/>
                </a:solidFill>
                <a:latin typeface="Cambria" pitchFamily="34" charset="0"/>
                <a:ea typeface="Cambria" pitchFamily="34" charset="-122"/>
                <a:cs typeface="Cambria" pitchFamily="34" charset="-120"/>
              </a:rPr>
              <a:t>Vì sao RRF không giúp</a:t>
            </a:r>
            <a:endParaRPr lang="en-US" sz="1400" dirty="0"/>
          </a:p>
        </p:txBody>
      </p:sp>
      <p:sp>
        <p:nvSpPr>
          <p:cNvPr id="12" name="Text 9"/>
          <p:cNvSpPr txBox="1"/>
          <p:nvPr/>
        </p:nvSpPr>
        <p:spPr>
          <a:xfrm>
            <a:off x="8110728" y="3730752"/>
            <a:ext cx="3383280" cy="914400"/>
          </a:xfrm>
          <a:prstGeom prst="rect">
            <a:avLst/>
          </a:prstGeom>
          <a:noFill/>
          <a:ln/>
        </p:spPr>
        <p:txBody>
          <a:bodyPr wrap="square" lIns="0" tIns="0" rIns="0" bIns="0" rtlCol="0" anchor="ctr"/>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6/13 tài liệu là quy chế cùng một trường, dùng chung vốn từ hành chính. BM25 xếp cao chunk đúng từ vựng nhưng sai chủ thể.</a:t>
            </a:r>
            <a:endParaRPr lang="en-US" sz="1150" dirty="0"/>
          </a:p>
        </p:txBody>
      </p:sp>
      <p:sp>
        <p:nvSpPr>
          <p:cNvPr id="13" name="Shape 10"/>
          <p:cNvSpPr/>
          <p:nvPr/>
        </p:nvSpPr>
        <p:spPr>
          <a:xfrm>
            <a:off x="566928" y="4956048"/>
            <a:ext cx="11027664" cy="868680"/>
          </a:xfrm>
          <a:prstGeom prst="roundRect">
            <a:avLst>
              <a:gd name="adj" fmla="val 12632"/>
            </a:avLst>
          </a:prstGeom>
          <a:solidFill>
            <a:srgbClr val="FFF4EC"/>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4" name="Text 11"/>
          <p:cNvSpPr txBox="1"/>
          <p:nvPr/>
        </p:nvSpPr>
        <p:spPr>
          <a:xfrm>
            <a:off x="859536" y="5074920"/>
            <a:ext cx="10442448" cy="640080"/>
          </a:xfrm>
          <a:prstGeom prst="rect">
            <a:avLst/>
          </a:prstGeom>
          <a:noFill/>
          <a:ln/>
        </p:spPr>
        <p:txBody>
          <a:bodyPr wrap="square" lIns="0" tIns="0" rIns="0" bIns="0" rtlCol="0" anchor="ctr"/>
          <a:lstStyle/>
          <a:p>
            <a:pPr indent="0" marL="0">
              <a:lnSpc>
                <a:spcPct val="120000"/>
              </a:lnSpc>
              <a:buNone/>
            </a:pPr>
            <a:r>
              <a:rPr lang="en-US" sz="1300" b="1" dirty="0">
                <a:solidFill>
                  <a:srgbClr val="C2571A"/>
                </a:solidFill>
                <a:latin typeface="Calibri" pitchFamily="34" charset="0"/>
                <a:ea typeface="Calibri" pitchFamily="34" charset="-122"/>
                <a:cs typeface="Calibri" pitchFamily="34" charset="-120"/>
              </a:rPr>
              <a:t>Nhóm giữ nguyên kết luận âm tính này.  </a:t>
            </a:r>
            <a:pPr indent="0" marL="0">
              <a:lnSpc>
                <a:spcPct val="120000"/>
              </a:lnSpc>
              <a:buNone/>
            </a:pPr>
            <a:r>
              <a:rPr lang="en-US" sz="1300" dirty="0">
                <a:solidFill>
                  <a:srgbClr val="1E293B"/>
                </a:solidFill>
                <a:latin typeface="Calibri" pitchFamily="34" charset="0"/>
                <a:ea typeface="Calibri" pitchFamily="34" charset="-122"/>
                <a:cs typeface="Calibri" pitchFamily="34" charset="-120"/>
              </a:rPr>
              <a:t>Không chọn Config B chỉ vì nó phức tạp hơn — RRF không mang lại lợi ích đo được trên corpus này.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66928" y="384048"/>
            <a:ext cx="420624" cy="420624"/>
          </a:xfrm>
          <a:prstGeom prst="ellipse">
            <a:avLst/>
          </a:prstGeom>
          <a:solidFill>
            <a:srgbClr val="F27A2A"/>
          </a:solidFill>
          <a:ln w="12700">
            <a:solidFill>
              <a:srgbClr val="F27A2A"/>
            </a:solidFill>
            <a:prstDash val="solid"/>
          </a:ln>
        </p:spPr>
      </p:sp>
      <p:sp>
        <p:nvSpPr>
          <p:cNvPr id="3" name="Text 1"/>
          <p:cNvSpPr txBox="1"/>
          <p:nvPr/>
        </p:nvSpPr>
        <p:spPr>
          <a:xfrm>
            <a:off x="566928" y="38404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4" name="Text 2"/>
          <p:cNvSpPr txBox="1"/>
          <p:nvPr/>
        </p:nvSpPr>
        <p:spPr>
          <a:xfrm>
            <a:off x="1170432" y="310896"/>
            <a:ext cx="10424160" cy="566928"/>
          </a:xfrm>
          <a:prstGeom prst="rect">
            <a:avLst/>
          </a:prstGeom>
          <a:noFill/>
          <a:ln/>
        </p:spPr>
        <p:txBody>
          <a:bodyPr wrap="square" lIns="0" tIns="0" rIns="0" bIns="0" rtlCol="0" anchor="ctr"/>
          <a:lstStyle/>
          <a:p>
            <a:pPr indent="0" marL="0">
              <a:buNone/>
            </a:pPr>
            <a:r>
              <a:rPr lang="en-US" sz="3000" b="1" dirty="0">
                <a:solidFill>
                  <a:srgbClr val="1E3A8A"/>
                </a:solidFill>
                <a:latin typeface="Cambria" pitchFamily="34" charset="0"/>
                <a:ea typeface="Cambria" pitchFamily="34" charset="-122"/>
                <a:cs typeface="Cambria" pitchFamily="34" charset="-120"/>
              </a:rPr>
              <a:t>Ba case kém nhất và nguyên nhân gốc</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Đọc metric theo tầng để không sửa nhầm chỗ</a:t>
            </a:r>
            <a:endParaRPr lang="en-US" sz="1350" dirty="0"/>
          </a:p>
        </p:txBody>
      </p:sp>
      <p:sp>
        <p:nvSpPr>
          <p:cNvPr id="6" name="Shape 4"/>
          <p:cNvSpPr/>
          <p:nvPr/>
        </p:nvSpPr>
        <p:spPr>
          <a:xfrm>
            <a:off x="566928" y="1517904"/>
            <a:ext cx="11027664" cy="1316736"/>
          </a:xfrm>
          <a:prstGeom prst="roundRect">
            <a:avLst>
              <a:gd name="adj" fmla="val 8333"/>
            </a:avLst>
          </a:prstGeom>
          <a:solidFill>
            <a:srgbClr val="FFF1E8"/>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7" name="Shape 5"/>
          <p:cNvSpPr/>
          <p:nvPr/>
        </p:nvSpPr>
        <p:spPr>
          <a:xfrm>
            <a:off x="786384" y="1719072"/>
            <a:ext cx="1170432" cy="310896"/>
          </a:xfrm>
          <a:prstGeom prst="roundRect">
            <a:avLst>
              <a:gd name="adj" fmla="val 47059"/>
            </a:avLst>
          </a:prstGeom>
          <a:solidFill>
            <a:srgbClr val="C2571A"/>
          </a:solidFill>
          <a:ln w="12700">
            <a:solidFill>
              <a:srgbClr val="C2571A"/>
            </a:solidFill>
            <a:prstDash val="solid"/>
          </a:ln>
        </p:spPr>
      </p:sp>
      <p:sp>
        <p:nvSpPr>
          <p:cNvPr id="8" name="Text 6"/>
          <p:cNvSpPr txBox="1"/>
          <p:nvPr/>
        </p:nvSpPr>
        <p:spPr>
          <a:xfrm>
            <a:off x="786384" y="1719072"/>
            <a:ext cx="1170432"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retrieval</a:t>
            </a:r>
            <a:endParaRPr lang="en-US" sz="1050" dirty="0"/>
          </a:p>
        </p:txBody>
      </p:sp>
      <p:sp>
        <p:nvSpPr>
          <p:cNvPr id="9" name="Text 7"/>
          <p:cNvSpPr txBox="1"/>
          <p:nvPr/>
        </p:nvSpPr>
        <p:spPr>
          <a:xfrm>
            <a:off x="2103120" y="1682496"/>
            <a:ext cx="6766560" cy="365760"/>
          </a:xfrm>
          <a:prstGeom prst="rect">
            <a:avLst/>
          </a:prstGeom>
          <a:noFill/>
          <a:ln/>
        </p:spPr>
        <p:txBody>
          <a:bodyPr wrap="square" lIns="0" tIns="0" rIns="0" bIns="0" rtlCol="0" anchor="ctr"/>
          <a:lstStyle/>
          <a:p>
            <a:pPr indent="0" marL="0">
              <a:buNone/>
            </a:pPr>
            <a:r>
              <a:rPr lang="en-US" sz="1350" b="1" dirty="0">
                <a:solidFill>
                  <a:srgbClr val="1E3A8A"/>
                </a:solidFill>
                <a:latin typeface="Cambria" pitchFamily="34" charset="0"/>
                <a:ea typeface="Cambria" pitchFamily="34" charset="-122"/>
                <a:cs typeface="Cambria" pitchFamily="34" charset="-120"/>
              </a:rPr>
              <a:t>Khi cán bộ phản biện chấm khóa luận dưới 5 điểm thì xử lý thế nào?</a:t>
            </a:r>
            <a:endParaRPr lang="en-US" sz="1350" dirty="0"/>
          </a:p>
        </p:txBody>
      </p:sp>
      <p:sp>
        <p:nvSpPr>
          <p:cNvPr id="10" name="Text 8"/>
          <p:cNvSpPr txBox="1"/>
          <p:nvPr/>
        </p:nvSpPr>
        <p:spPr>
          <a:xfrm>
            <a:off x="2103120" y="2066544"/>
            <a:ext cx="6766560" cy="658368"/>
          </a:xfrm>
          <a:prstGeom prst="rect">
            <a:avLst/>
          </a:prstGeom>
          <a:noFill/>
          <a:ln/>
        </p:spPr>
        <p:txBody>
          <a:bodyPr wrap="square" lIns="0" tIns="0" rIns="0" bIns="0" rtlCol="0" anchor="ctr"/>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Cả 5 chunk đều lấy từ văn bản sai. Văn bản 159 dùng viết tắt KLTN 113 lần so với 11 lần viết đầy đủ, CBPB 25 lần so với 2 lần.</a:t>
            </a:r>
            <a:endParaRPr lang="en-US" sz="1150" dirty="0"/>
          </a:p>
        </p:txBody>
      </p:sp>
      <p:sp>
        <p:nvSpPr>
          <p:cNvPr id="11" name="Text 9"/>
          <p:cNvSpPr txBox="1"/>
          <p:nvPr/>
        </p:nvSpPr>
        <p:spPr>
          <a:xfrm>
            <a:off x="9025128" y="1929384"/>
            <a:ext cx="2514600" cy="457200"/>
          </a:xfrm>
          <a:prstGeom prst="rect">
            <a:avLst/>
          </a:prstGeom>
          <a:noFill/>
          <a:ln/>
        </p:spPr>
        <p:txBody>
          <a:bodyPr wrap="square" lIns="0" tIns="0" rIns="0" bIns="0" rtlCol="0" anchor="ctr"/>
          <a:lstStyle/>
          <a:p>
            <a:pPr algn="r" indent="0" marL="0">
              <a:buNone/>
            </a:pPr>
            <a:r>
              <a:rPr lang="en-US" sz="1200" b="1" dirty="0">
                <a:solidFill>
                  <a:srgbClr val="C2571A"/>
                </a:solidFill>
                <a:latin typeface="Courier New" pitchFamily="34" charset="0"/>
                <a:ea typeface="Courier New" pitchFamily="34" charset="-122"/>
                <a:cs typeface="Courier New" pitchFamily="34" charset="-120"/>
              </a:rPr>
              <a:t>context_recall 0.000</a:t>
            </a:r>
            <a:endParaRPr lang="en-US" sz="1200" dirty="0"/>
          </a:p>
        </p:txBody>
      </p:sp>
      <p:sp>
        <p:nvSpPr>
          <p:cNvPr id="12" name="Shape 10"/>
          <p:cNvSpPr/>
          <p:nvPr/>
        </p:nvSpPr>
        <p:spPr>
          <a:xfrm>
            <a:off x="566928" y="2980944"/>
            <a:ext cx="11027664" cy="1316736"/>
          </a:xfrm>
          <a:prstGeom prst="roundRect">
            <a:avLst>
              <a:gd name="adj" fmla="val 8333"/>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3" name="Shape 11"/>
          <p:cNvSpPr/>
          <p:nvPr/>
        </p:nvSpPr>
        <p:spPr>
          <a:xfrm>
            <a:off x="786384" y="3182112"/>
            <a:ext cx="1170432" cy="310896"/>
          </a:xfrm>
          <a:prstGeom prst="roundRect">
            <a:avLst>
              <a:gd name="adj" fmla="val 47059"/>
            </a:avLst>
          </a:prstGeom>
          <a:solidFill>
            <a:srgbClr val="C2571A"/>
          </a:solidFill>
          <a:ln w="12700">
            <a:solidFill>
              <a:srgbClr val="C2571A"/>
            </a:solidFill>
            <a:prstDash val="solid"/>
          </a:ln>
        </p:spPr>
      </p:sp>
      <p:sp>
        <p:nvSpPr>
          <p:cNvPr id="14" name="Text 12"/>
          <p:cNvSpPr txBox="1"/>
          <p:nvPr/>
        </p:nvSpPr>
        <p:spPr>
          <a:xfrm>
            <a:off x="786384" y="3182112"/>
            <a:ext cx="1170432"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retrieval</a:t>
            </a:r>
            <a:endParaRPr lang="en-US" sz="1050" dirty="0"/>
          </a:p>
        </p:txBody>
      </p:sp>
      <p:sp>
        <p:nvSpPr>
          <p:cNvPr id="15" name="Text 13"/>
          <p:cNvSpPr txBox="1"/>
          <p:nvPr/>
        </p:nvSpPr>
        <p:spPr>
          <a:xfrm>
            <a:off x="2103120" y="3145536"/>
            <a:ext cx="6766560" cy="365760"/>
          </a:xfrm>
          <a:prstGeom prst="rect">
            <a:avLst/>
          </a:prstGeom>
          <a:noFill/>
          <a:ln/>
        </p:spPr>
        <p:txBody>
          <a:bodyPr wrap="square" lIns="0" tIns="0" rIns="0" bIns="0" rtlCol="0" anchor="ctr"/>
          <a:lstStyle/>
          <a:p>
            <a:pPr indent="0" marL="0">
              <a:buNone/>
            </a:pPr>
            <a:r>
              <a:rPr lang="en-US" sz="1350" b="1" dirty="0">
                <a:solidFill>
                  <a:srgbClr val="1E3A8A"/>
                </a:solidFill>
                <a:latin typeface="Cambria" pitchFamily="34" charset="0"/>
                <a:ea typeface="Cambria" pitchFamily="34" charset="-122"/>
                <a:cs typeface="Cambria" pitchFamily="34" charset="-120"/>
              </a:rPr>
              <a:t>Sinh viên bị đuổi học trong những trường hợp nào?</a:t>
            </a:r>
            <a:endParaRPr lang="en-US" sz="1350" dirty="0"/>
          </a:p>
        </p:txBody>
      </p:sp>
      <p:sp>
        <p:nvSpPr>
          <p:cNvPr id="16" name="Text 14"/>
          <p:cNvSpPr txBox="1"/>
          <p:nvPr/>
        </p:nvSpPr>
        <p:spPr>
          <a:xfrm>
            <a:off x="2103120" y="3529584"/>
            <a:ext cx="6766560" cy="658368"/>
          </a:xfrm>
          <a:prstGeom prst="rect">
            <a:avLst/>
          </a:prstGeom>
          <a:noFill/>
          <a:ln/>
        </p:spPr>
        <p:txBody>
          <a:bodyPr wrap="square" lIns="0" tIns="0" rIns="0" bIns="0" rtlCol="0" anchor="ctr"/>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RRF đẩy chunk chứa danh sách buộc thôi học ra khỏi top-5, thay bằng Điều 23 của văn bản khác. Ba metric còn lại vẫn đẹp.</a:t>
            </a:r>
            <a:endParaRPr lang="en-US" sz="1150" dirty="0"/>
          </a:p>
        </p:txBody>
      </p:sp>
      <p:sp>
        <p:nvSpPr>
          <p:cNvPr id="17" name="Text 15"/>
          <p:cNvSpPr txBox="1"/>
          <p:nvPr/>
        </p:nvSpPr>
        <p:spPr>
          <a:xfrm>
            <a:off x="9025128" y="3392424"/>
            <a:ext cx="2514600" cy="457200"/>
          </a:xfrm>
          <a:prstGeom prst="rect">
            <a:avLst/>
          </a:prstGeom>
          <a:noFill/>
          <a:ln/>
        </p:spPr>
        <p:txBody>
          <a:bodyPr wrap="square" lIns="0" tIns="0" rIns="0" bIns="0" rtlCol="0" anchor="ctr"/>
          <a:lstStyle/>
          <a:p>
            <a:pPr algn="r" indent="0" marL="0">
              <a:buNone/>
            </a:pPr>
            <a:r>
              <a:rPr lang="en-US" sz="1200" b="1" dirty="0">
                <a:solidFill>
                  <a:srgbClr val="C2571A"/>
                </a:solidFill>
                <a:latin typeface="Courier New" pitchFamily="34" charset="0"/>
                <a:ea typeface="Courier New" pitchFamily="34" charset="-122"/>
                <a:cs typeface="Courier New" pitchFamily="34" charset="-120"/>
              </a:rPr>
              <a:t>recall 0.857 → 0.429</a:t>
            </a:r>
            <a:endParaRPr lang="en-US" sz="1200" dirty="0"/>
          </a:p>
        </p:txBody>
      </p:sp>
      <p:sp>
        <p:nvSpPr>
          <p:cNvPr id="18" name="Shape 16"/>
          <p:cNvSpPr/>
          <p:nvPr/>
        </p:nvSpPr>
        <p:spPr>
          <a:xfrm>
            <a:off x="566928" y="4443984"/>
            <a:ext cx="11027664" cy="1316736"/>
          </a:xfrm>
          <a:prstGeom prst="roundRect">
            <a:avLst>
              <a:gd name="adj" fmla="val 8333"/>
            </a:avLst>
          </a:prstGeom>
          <a:solidFill>
            <a:srgbClr val="EFF6FF"/>
          </a:solidFill>
          <a:ln w="12700">
            <a:solidFill>
              <a:srgbClr val="DCE6F5"/>
            </a:solidFill>
            <a:prstDash val="solid"/>
          </a:ln>
          <a:effectLst>
            <a:outerShdw sx="100000" sy="100000" kx="0" ky="0" algn="bl" rotWithShape="0" blurRad="101600" dist="25400" dir="5400000">
              <a:srgbClr val="1E293B">
                <a:alpha val="7000"/>
              </a:srgbClr>
            </a:outerShdw>
          </a:effectLst>
        </p:spPr>
      </p:sp>
      <p:sp>
        <p:nvSpPr>
          <p:cNvPr id="19" name="Shape 17"/>
          <p:cNvSpPr/>
          <p:nvPr/>
        </p:nvSpPr>
        <p:spPr>
          <a:xfrm>
            <a:off x="786384" y="4645152"/>
            <a:ext cx="1170432" cy="310896"/>
          </a:xfrm>
          <a:prstGeom prst="roundRect">
            <a:avLst>
              <a:gd name="adj" fmla="val 47059"/>
            </a:avLst>
          </a:prstGeom>
          <a:solidFill>
            <a:srgbClr val="1D4ED8"/>
          </a:solidFill>
          <a:ln w="12700">
            <a:solidFill>
              <a:srgbClr val="1D4ED8"/>
            </a:solidFill>
            <a:prstDash val="solid"/>
          </a:ln>
        </p:spPr>
      </p:sp>
      <p:sp>
        <p:nvSpPr>
          <p:cNvPr id="20" name="Text 18"/>
          <p:cNvSpPr txBox="1"/>
          <p:nvPr/>
        </p:nvSpPr>
        <p:spPr>
          <a:xfrm>
            <a:off x="786384" y="4645152"/>
            <a:ext cx="1170432"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generation</a:t>
            </a:r>
            <a:endParaRPr lang="en-US" sz="1050" dirty="0"/>
          </a:p>
        </p:txBody>
      </p:sp>
      <p:sp>
        <p:nvSpPr>
          <p:cNvPr id="21" name="Text 19"/>
          <p:cNvSpPr txBox="1"/>
          <p:nvPr/>
        </p:nvSpPr>
        <p:spPr>
          <a:xfrm>
            <a:off x="2103120" y="4608576"/>
            <a:ext cx="6766560" cy="365760"/>
          </a:xfrm>
          <a:prstGeom prst="rect">
            <a:avLst/>
          </a:prstGeom>
          <a:noFill/>
          <a:ln/>
        </p:spPr>
        <p:txBody>
          <a:bodyPr wrap="square" lIns="0" tIns="0" rIns="0" bIns="0" rtlCol="0" anchor="ctr"/>
          <a:lstStyle/>
          <a:p>
            <a:pPr indent="0" marL="0">
              <a:buNone/>
            </a:pPr>
            <a:r>
              <a:rPr lang="en-US" sz="1350" b="1" dirty="0">
                <a:solidFill>
                  <a:srgbClr val="1E3A8A"/>
                </a:solidFill>
                <a:latin typeface="Cambria" pitchFamily="34" charset="0"/>
                <a:ea typeface="Cambria" pitchFamily="34" charset="-122"/>
                <a:cs typeface="Cambria" pitchFamily="34" charset="-120"/>
              </a:rPr>
              <a:t>Tài liệu số hóa dùng cho dạy học trực tuyến gọi là gì?</a:t>
            </a:r>
            <a:endParaRPr lang="en-US" sz="1350" dirty="0"/>
          </a:p>
        </p:txBody>
      </p:sp>
      <p:sp>
        <p:nvSpPr>
          <p:cNvPr id="22" name="Text 20"/>
          <p:cNvSpPr txBox="1"/>
          <p:nvPr/>
        </p:nvSpPr>
        <p:spPr>
          <a:xfrm>
            <a:off x="2103120" y="4992624"/>
            <a:ext cx="6766560" cy="658368"/>
          </a:xfrm>
          <a:prstGeom prst="rect">
            <a:avLst/>
          </a:prstGeom>
          <a:noFill/>
          <a:ln/>
        </p:spPr>
        <p:txBody>
          <a:bodyPr wrap="square" lIns="0" tIns="0" rIns="0" bIns="0" rtlCol="0" anchor="ctr"/>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Câu trả lời đúng nhưng quá cộc: "Học liệu điện tử [Document 1]". RAGAS không sinh ngược được câu hỏi từ ba chữ.</a:t>
            </a:r>
            <a:endParaRPr lang="en-US" sz="1150" dirty="0"/>
          </a:p>
        </p:txBody>
      </p:sp>
      <p:sp>
        <p:nvSpPr>
          <p:cNvPr id="23" name="Text 21"/>
          <p:cNvSpPr txBox="1"/>
          <p:nvPr/>
        </p:nvSpPr>
        <p:spPr>
          <a:xfrm>
            <a:off x="9025128" y="4855464"/>
            <a:ext cx="2514600" cy="457200"/>
          </a:xfrm>
          <a:prstGeom prst="rect">
            <a:avLst/>
          </a:prstGeom>
          <a:noFill/>
          <a:ln/>
        </p:spPr>
        <p:txBody>
          <a:bodyPr wrap="square" lIns="0" tIns="0" rIns="0" bIns="0" rtlCol="0" anchor="ctr"/>
          <a:lstStyle/>
          <a:p>
            <a:pPr algn="r" indent="0" marL="0">
              <a:buNone/>
            </a:pPr>
            <a:r>
              <a:rPr lang="en-US" sz="1200" b="1" dirty="0">
                <a:solidFill>
                  <a:srgbClr val="1D4ED8"/>
                </a:solidFill>
                <a:latin typeface="Courier New" pitchFamily="34" charset="0"/>
                <a:ea typeface="Courier New" pitchFamily="34" charset="-122"/>
                <a:cs typeface="Courier New" pitchFamily="34" charset="-120"/>
              </a:rPr>
              <a:t>answer relevance 0.000</a:t>
            </a:r>
            <a:endParaRPr lang="en-US" sz="1200" dirty="0"/>
          </a:p>
        </p:txBody>
      </p:sp>
      <p:sp>
        <p:nvSpPr>
          <p:cNvPr id="24" name="Text 22"/>
          <p:cNvSpPr txBox="1"/>
          <p:nvPr/>
        </p:nvSpPr>
        <p:spPr>
          <a:xfrm>
            <a:off x="566928" y="5943600"/>
            <a:ext cx="11027664"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Recall hoặc precision thấp → corpus, chunking, retrieval.   Faithfulness thấp với context đúng → prompt, generation.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A3A"/>
        </a:solidFill>
      </p:bgPr>
    </p:bg>
    <p:spTree>
      <p:nvGrpSpPr>
        <p:cNvPr id="1" name=""/>
        <p:cNvGrpSpPr/>
        <p:nvPr/>
      </p:nvGrpSpPr>
      <p:grpSpPr>
        <a:xfrm>
          <a:off x="0" y="0"/>
          <a:ext cx="0" cy="0"/>
          <a:chOff x="0" y="0"/>
          <a:chExt cx="0" cy="0"/>
        </a:xfrm>
      </p:grpSpPr>
      <p:sp>
        <p:nvSpPr>
          <p:cNvPr id="2" name="Shape 0"/>
          <p:cNvSpPr/>
          <p:nvPr/>
        </p:nvSpPr>
        <p:spPr>
          <a:xfrm rot="1080000">
            <a:off x="10881360" y="-548640"/>
            <a:ext cx="2011680" cy="2011680"/>
          </a:xfrm>
          <a:prstGeom prst="roundRect">
            <a:avLst>
              <a:gd name="adj" fmla="val 9091"/>
            </a:avLst>
          </a:prstGeom>
          <a:solidFill>
            <a:srgbClr val="F27A2A">
              <a:alpha val="20000"/>
            </a:srgbClr>
          </a:solidFill>
          <a:ln w="12700">
            <a:solidFill>
              <a:srgbClr val="F27A2A">
                <a:alpha val="20000"/>
              </a:srgbClr>
            </a:solidFill>
            <a:prstDash val="solid"/>
          </a:ln>
        </p:spPr>
      </p:sp>
      <p:sp>
        <p:nvSpPr>
          <p:cNvPr id="3" name="Text 1"/>
          <p:cNvSpPr txBox="1"/>
          <p:nvPr/>
        </p:nvSpPr>
        <p:spPr>
          <a:xfrm>
            <a:off x="566928" y="45720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Khuyến nghị và bài học</a:t>
            </a:r>
            <a:endParaRPr lang="en-US" sz="3200" dirty="0"/>
          </a:p>
        </p:txBody>
      </p:sp>
      <p:sp>
        <p:nvSpPr>
          <p:cNvPr id="4" name="Shape 2"/>
          <p:cNvSpPr/>
          <p:nvPr/>
        </p:nvSpPr>
        <p:spPr>
          <a:xfrm>
            <a:off x="566928" y="1371600"/>
            <a:ext cx="11027664" cy="1133856"/>
          </a:xfrm>
          <a:prstGeom prst="roundRect">
            <a:avLst>
              <a:gd name="adj" fmla="val 8065"/>
            </a:avLst>
          </a:prstGeom>
          <a:solidFill>
            <a:srgbClr val="13254D"/>
          </a:solidFill>
          <a:ln w="12700">
            <a:solidFill>
              <a:srgbClr val="23386B"/>
            </a:solidFill>
            <a:prstDash val="solid"/>
          </a:ln>
        </p:spPr>
      </p:sp>
      <p:sp>
        <p:nvSpPr>
          <p:cNvPr id="5" name="Shape 3"/>
          <p:cNvSpPr/>
          <p:nvPr/>
        </p:nvSpPr>
        <p:spPr>
          <a:xfrm>
            <a:off x="822960" y="1700784"/>
            <a:ext cx="457200" cy="457200"/>
          </a:xfrm>
          <a:prstGeom prst="ellipse">
            <a:avLst/>
          </a:prstGeom>
          <a:solidFill>
            <a:srgbClr val="F27A2A"/>
          </a:solidFill>
          <a:ln w="12700">
            <a:solidFill>
              <a:srgbClr val="F27A2A"/>
            </a:solidFill>
            <a:prstDash val="solid"/>
          </a:ln>
        </p:spPr>
      </p:sp>
      <p:sp>
        <p:nvSpPr>
          <p:cNvPr id="6" name="Text 4"/>
          <p:cNvSpPr txBox="1"/>
          <p:nvPr/>
        </p:nvSpPr>
        <p:spPr>
          <a:xfrm>
            <a:off x="822960" y="170078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7" name="Text 5"/>
          <p:cNvSpPr txBox="1"/>
          <p:nvPr/>
        </p:nvSpPr>
        <p:spPr>
          <a:xfrm>
            <a:off x="1481328" y="1517904"/>
            <a:ext cx="5852160" cy="3474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Mở rộng viết tắt khi chunk</a:t>
            </a:r>
            <a:endParaRPr lang="en-US" sz="1550" dirty="0"/>
          </a:p>
        </p:txBody>
      </p:sp>
      <p:sp>
        <p:nvSpPr>
          <p:cNvPr id="8" name="Text 6"/>
          <p:cNvSpPr txBox="1"/>
          <p:nvPr/>
        </p:nvSpPr>
        <p:spPr>
          <a:xfrm>
            <a:off x="1481328" y="1883664"/>
            <a:ext cx="5852160" cy="548640"/>
          </a:xfrm>
          <a:prstGeom prst="rect">
            <a:avLst/>
          </a:prstGeom>
          <a:noFill/>
          <a:ln/>
        </p:spPr>
        <p:txBody>
          <a:bodyPr wrap="square" lIns="0" tIns="0" rIns="0" bIns="0" rtlCol="0" anchor="ctr"/>
          <a:lstStyle/>
          <a:p>
            <a:pPr indent="0" marL="0">
              <a:lnSpc>
                <a:spcPct val="120000"/>
              </a:lnSpc>
              <a:buNone/>
            </a:pPr>
            <a:r>
              <a:rPr lang="en-US" sz="1150" dirty="0">
                <a:solidFill>
                  <a:srgbClr val="C7D3E6"/>
                </a:solidFill>
                <a:latin typeface="Calibri" pitchFamily="34" charset="0"/>
                <a:ea typeface="Calibri" pitchFamily="34" charset="-122"/>
                <a:cs typeface="Calibri" pitchFamily="34" charset="-120"/>
              </a:rPr>
              <a:t>Đọc bảng thuật ngữ ở Điều 2 rồi chèn dạng đầy đủ: KLTN (khóa luận tốt nghiệp).</a:t>
            </a:r>
            <a:endParaRPr lang="en-US" sz="1150" dirty="0"/>
          </a:p>
        </p:txBody>
      </p:sp>
      <p:sp>
        <p:nvSpPr>
          <p:cNvPr id="9" name="Text 7"/>
          <p:cNvSpPr txBox="1"/>
          <p:nvPr/>
        </p:nvSpPr>
        <p:spPr>
          <a:xfrm>
            <a:off x="7607808" y="1700784"/>
            <a:ext cx="3931920" cy="502920"/>
          </a:xfrm>
          <a:prstGeom prst="rect">
            <a:avLst/>
          </a:prstGeom>
          <a:noFill/>
          <a:ln/>
        </p:spPr>
        <p:txBody>
          <a:bodyPr wrap="square" lIns="0" tIns="0" rIns="0" bIns="0" rtlCol="0" anchor="ctr"/>
          <a:lstStyle/>
          <a:p>
            <a:pPr indent="0" marL="0">
              <a:lnSpc>
                <a:spcPct val="115000"/>
              </a:lnSpc>
              <a:buNone/>
            </a:pPr>
            <a:r>
              <a:rPr lang="en-US" sz="1100" i="1" dirty="0">
                <a:solidFill>
                  <a:srgbClr val="F6C445"/>
                </a:solidFill>
                <a:latin typeface="Calibri" pitchFamily="34" charset="0"/>
                <a:ea typeface="Calibri" pitchFamily="34" charset="-122"/>
                <a:cs typeface="Calibri" pitchFamily="34" charset="-120"/>
              </a:rPr>
              <a:t>Kiểm tra: chunk_ids của case 1 phải xuất hiện văn bản 159</a:t>
            </a:r>
            <a:endParaRPr lang="en-US" sz="1100" dirty="0"/>
          </a:p>
        </p:txBody>
      </p:sp>
      <p:sp>
        <p:nvSpPr>
          <p:cNvPr id="10" name="Shape 8"/>
          <p:cNvSpPr/>
          <p:nvPr/>
        </p:nvSpPr>
        <p:spPr>
          <a:xfrm>
            <a:off x="566928" y="2670048"/>
            <a:ext cx="11027664" cy="1133856"/>
          </a:xfrm>
          <a:prstGeom prst="roundRect">
            <a:avLst>
              <a:gd name="adj" fmla="val 8065"/>
            </a:avLst>
          </a:prstGeom>
          <a:solidFill>
            <a:srgbClr val="13254D"/>
          </a:solidFill>
          <a:ln w="12700">
            <a:solidFill>
              <a:srgbClr val="23386B"/>
            </a:solidFill>
            <a:prstDash val="solid"/>
          </a:ln>
        </p:spPr>
      </p:sp>
      <p:sp>
        <p:nvSpPr>
          <p:cNvPr id="11" name="Shape 9"/>
          <p:cNvSpPr/>
          <p:nvPr/>
        </p:nvSpPr>
        <p:spPr>
          <a:xfrm>
            <a:off x="822960" y="2999232"/>
            <a:ext cx="457200" cy="457200"/>
          </a:xfrm>
          <a:prstGeom prst="ellipse">
            <a:avLst/>
          </a:prstGeom>
          <a:solidFill>
            <a:srgbClr val="F27A2A"/>
          </a:solidFill>
          <a:ln w="12700">
            <a:solidFill>
              <a:srgbClr val="F27A2A"/>
            </a:solidFill>
            <a:prstDash val="solid"/>
          </a:ln>
        </p:spPr>
      </p:sp>
      <p:sp>
        <p:nvSpPr>
          <p:cNvPr id="12" name="Text 10"/>
          <p:cNvSpPr txBox="1"/>
          <p:nvPr/>
        </p:nvSpPr>
        <p:spPr>
          <a:xfrm>
            <a:off x="822960" y="299923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3" name="Text 11"/>
          <p:cNvSpPr txBox="1"/>
          <p:nvPr/>
        </p:nvSpPr>
        <p:spPr>
          <a:xfrm>
            <a:off x="1481328" y="2816352"/>
            <a:ext cx="5852160" cy="3474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Prompt — đã thử và bác bỏ</a:t>
            </a:r>
            <a:endParaRPr lang="en-US" sz="1550" dirty="0"/>
          </a:p>
        </p:txBody>
      </p:sp>
      <p:sp>
        <p:nvSpPr>
          <p:cNvPr id="14" name="Text 12"/>
          <p:cNvSpPr txBox="1"/>
          <p:nvPr/>
        </p:nvSpPr>
        <p:spPr>
          <a:xfrm>
            <a:off x="1481328" y="3182112"/>
            <a:ext cx="5852160" cy="548640"/>
          </a:xfrm>
          <a:prstGeom prst="rect">
            <a:avLst/>
          </a:prstGeom>
          <a:noFill/>
          <a:ln/>
        </p:spPr>
        <p:txBody>
          <a:bodyPr wrap="square" lIns="0" tIns="0" rIns="0" bIns="0" rtlCol="0" anchor="ctr"/>
          <a:lstStyle/>
          <a:p>
            <a:pPr indent="0" marL="0">
              <a:lnSpc>
                <a:spcPct val="120000"/>
              </a:lnSpc>
              <a:buNone/>
            </a:pPr>
            <a:r>
              <a:rPr lang="en-US" sz="1150" dirty="0">
                <a:solidFill>
                  <a:srgbClr val="C7D3E6"/>
                </a:solidFill>
                <a:latin typeface="Calibri" pitchFamily="34" charset="0"/>
                <a:ea typeface="Calibri" pitchFamily="34" charset="-122"/>
                <a:cs typeface="Calibri" pitchFamily="34" charset="-120"/>
              </a:rPr>
              <a:t>Bản nới lỏng làm faithfulness tụt 1.0000 → 0.8889 và answer relevance cũng tụt. Đã quay lại bản gốc.</a:t>
            </a:r>
            <a:endParaRPr lang="en-US" sz="1150" dirty="0"/>
          </a:p>
        </p:txBody>
      </p:sp>
      <p:sp>
        <p:nvSpPr>
          <p:cNvPr id="15" name="Text 13"/>
          <p:cNvSpPr txBox="1"/>
          <p:nvPr/>
        </p:nvSpPr>
        <p:spPr>
          <a:xfrm>
            <a:off x="7607808" y="2999232"/>
            <a:ext cx="3931920" cy="502920"/>
          </a:xfrm>
          <a:prstGeom prst="rect">
            <a:avLst/>
          </a:prstGeom>
          <a:noFill/>
          <a:ln/>
        </p:spPr>
        <p:txBody>
          <a:bodyPr wrap="square" lIns="0" tIns="0" rIns="0" bIns="0" rtlCol="0" anchor="ctr"/>
          <a:lstStyle/>
          <a:p>
            <a:pPr indent="0" marL="0">
              <a:lnSpc>
                <a:spcPct val="115000"/>
              </a:lnSpc>
              <a:buNone/>
            </a:pPr>
            <a:r>
              <a:rPr lang="en-US" sz="1100" i="1" dirty="0">
                <a:solidFill>
                  <a:srgbClr val="F6C445"/>
                </a:solidFill>
                <a:latin typeface="Calibri" pitchFamily="34" charset="0"/>
                <a:ea typeface="Calibri" pitchFamily="34" charset="-122"/>
                <a:cs typeface="Calibri" pitchFamily="34" charset="-120"/>
              </a:rPr>
              <a:t>Kiểm tra: đã chạy lại RAGAS, kết quả trong RESULT.md</a:t>
            </a:r>
            <a:endParaRPr lang="en-US" sz="1100" dirty="0"/>
          </a:p>
        </p:txBody>
      </p:sp>
      <p:sp>
        <p:nvSpPr>
          <p:cNvPr id="16" name="Shape 14"/>
          <p:cNvSpPr/>
          <p:nvPr/>
        </p:nvSpPr>
        <p:spPr>
          <a:xfrm>
            <a:off x="566928" y="3968496"/>
            <a:ext cx="11027664" cy="1133856"/>
          </a:xfrm>
          <a:prstGeom prst="roundRect">
            <a:avLst>
              <a:gd name="adj" fmla="val 8065"/>
            </a:avLst>
          </a:prstGeom>
          <a:solidFill>
            <a:srgbClr val="13254D"/>
          </a:solidFill>
          <a:ln w="12700">
            <a:solidFill>
              <a:srgbClr val="23386B"/>
            </a:solidFill>
            <a:prstDash val="solid"/>
          </a:ln>
        </p:spPr>
      </p:sp>
      <p:sp>
        <p:nvSpPr>
          <p:cNvPr id="17" name="Shape 15"/>
          <p:cNvSpPr/>
          <p:nvPr/>
        </p:nvSpPr>
        <p:spPr>
          <a:xfrm>
            <a:off x="822960" y="4297680"/>
            <a:ext cx="457200" cy="457200"/>
          </a:xfrm>
          <a:prstGeom prst="ellipse">
            <a:avLst/>
          </a:prstGeom>
          <a:solidFill>
            <a:srgbClr val="F27A2A"/>
          </a:solidFill>
          <a:ln w="12700">
            <a:solidFill>
              <a:srgbClr val="F27A2A"/>
            </a:solidFill>
            <a:prstDash val="solid"/>
          </a:ln>
        </p:spPr>
      </p:sp>
      <p:sp>
        <p:nvSpPr>
          <p:cNvPr id="18" name="Text 16"/>
          <p:cNvSpPr txBox="1"/>
          <p:nvPr/>
        </p:nvSpPr>
        <p:spPr>
          <a:xfrm>
            <a:off x="822960" y="429768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9" name="Text 17"/>
          <p:cNvSpPr txBox="1"/>
          <p:nvPr/>
        </p:nvSpPr>
        <p:spPr>
          <a:xfrm>
            <a:off x="1481328" y="4114800"/>
            <a:ext cx="5852160" cy="347472"/>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Bỏ hybrid khỏi đường mặc định</a:t>
            </a:r>
            <a:endParaRPr lang="en-US" sz="1550" dirty="0"/>
          </a:p>
        </p:txBody>
      </p:sp>
      <p:sp>
        <p:nvSpPr>
          <p:cNvPr id="20" name="Text 18"/>
          <p:cNvSpPr txBox="1"/>
          <p:nvPr/>
        </p:nvSpPr>
        <p:spPr>
          <a:xfrm>
            <a:off x="1481328" y="4480560"/>
            <a:ext cx="5852160" cy="548640"/>
          </a:xfrm>
          <a:prstGeom prst="rect">
            <a:avLst/>
          </a:prstGeom>
          <a:noFill/>
          <a:ln/>
        </p:spPr>
        <p:txBody>
          <a:bodyPr wrap="square" lIns="0" tIns="0" rIns="0" bIns="0" rtlCol="0" anchor="ctr"/>
          <a:lstStyle/>
          <a:p>
            <a:pPr indent="0" marL="0">
              <a:lnSpc>
                <a:spcPct val="120000"/>
              </a:lnSpc>
              <a:buNone/>
            </a:pPr>
            <a:r>
              <a:rPr lang="en-US" sz="1150" dirty="0">
                <a:solidFill>
                  <a:srgbClr val="C7D3E6"/>
                </a:solidFill>
                <a:latin typeface="Calibri" pitchFamily="34" charset="0"/>
                <a:ea typeface="Calibri" pitchFamily="34" charset="-122"/>
                <a:cs typeface="Calibri" pitchFamily="34" charset="-120"/>
              </a:rPr>
              <a:t>Chỉ làm sau khuyến nghị 1, vì mở rộng viết tắt có thể làm BM25 hữu ích trở lại.</a:t>
            </a:r>
            <a:endParaRPr lang="en-US" sz="1150" dirty="0"/>
          </a:p>
        </p:txBody>
      </p:sp>
      <p:sp>
        <p:nvSpPr>
          <p:cNvPr id="21" name="Text 19"/>
          <p:cNvSpPr txBox="1"/>
          <p:nvPr/>
        </p:nvSpPr>
        <p:spPr>
          <a:xfrm>
            <a:off x="7607808" y="4297680"/>
            <a:ext cx="3931920" cy="502920"/>
          </a:xfrm>
          <a:prstGeom prst="rect">
            <a:avLst/>
          </a:prstGeom>
          <a:noFill/>
          <a:ln/>
        </p:spPr>
        <p:txBody>
          <a:bodyPr wrap="square" lIns="0" tIns="0" rIns="0" bIns="0" rtlCol="0" anchor="ctr"/>
          <a:lstStyle/>
          <a:p>
            <a:pPr indent="0" marL="0">
              <a:lnSpc>
                <a:spcPct val="115000"/>
              </a:lnSpc>
              <a:buNone/>
            </a:pPr>
            <a:r>
              <a:rPr lang="en-US" sz="1100" i="1" dirty="0">
                <a:solidFill>
                  <a:srgbClr val="F6C445"/>
                </a:solidFill>
                <a:latin typeface="Calibri" pitchFamily="34" charset="0"/>
                <a:ea typeface="Calibri" pitchFamily="34" charset="-122"/>
                <a:cs typeface="Calibri" pitchFamily="34" charset="-120"/>
              </a:rPr>
              <a:t>Kiểm tra: đo lại latency với thứ tự A/B đảo ngược</a:t>
            </a:r>
            <a:endParaRPr lang="en-US" sz="1100" dirty="0"/>
          </a:p>
        </p:txBody>
      </p:sp>
      <p:sp>
        <p:nvSpPr>
          <p:cNvPr id="22" name="Text 20"/>
          <p:cNvSpPr txBox="1"/>
          <p:nvPr/>
        </p:nvSpPr>
        <p:spPr>
          <a:xfrm>
            <a:off x="566928" y="5577840"/>
            <a:ext cx="11027664" cy="548640"/>
          </a:xfrm>
          <a:prstGeom prst="rect">
            <a:avLst/>
          </a:prstGeom>
          <a:noFill/>
          <a:ln/>
        </p:spPr>
        <p:txBody>
          <a:bodyPr wrap="square" lIns="0" tIns="0" rIns="0" bIns="0" rtlCol="0" anchor="ctr"/>
          <a:lstStyle/>
          <a:p>
            <a:pPr indent="0" marL="0">
              <a:buNone/>
            </a:pPr>
            <a:r>
              <a:rPr lang="en-US" sz="1300" dirty="0">
                <a:solidFill>
                  <a:srgbClr val="F27A2A"/>
                </a:solidFill>
                <a:latin typeface="Calibri" pitchFamily="34" charset="0"/>
                <a:ea typeface="Calibri" pitchFamily="34" charset="-122"/>
                <a:cs typeface="Calibri" pitchFamily="34" charset="-120"/>
              </a:rPr>
              <a:t>Corpus ổn định là gốc của mọi thứ · Test xanh không thay thế được việc đối chiếu nguồn · Một đề xuất hợp lý vẫn có thể bị số liệu bác bỏ</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hỏi đáp quy chế UIT</dc:title>
  <dc:subject>PptxGenJS Presentation</dc:subject>
  <dc:creator>Nhóm K4-L3B</dc:creator>
  <cp:lastModifiedBy>Nhóm K4-L3B</cp:lastModifiedBy>
  <cp:revision>1</cp:revision>
  <dcterms:created xsi:type="dcterms:W3CDTF">2026-09-25T03:41:27Z</dcterms:created>
  <dcterms:modified xsi:type="dcterms:W3CDTF">2026-09-25T03:41:27Z</dcterms:modified>
</cp:coreProperties>
</file>